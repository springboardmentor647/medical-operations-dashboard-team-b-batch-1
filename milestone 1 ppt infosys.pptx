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4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60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Admissions</c:v>
                </c:pt>
              </c:strCache>
            </c:strRef>
          </c:tx>
          <c:spPr>
            <a:ln w="31750" cap="flat">
              <a:solidFill>
                <a:srgbClr val="00A896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00A896"/>
              </a:solidFill>
              <a:ln w="9525" cap="flat">
                <a:solidFill>
                  <a:srgbClr val="00A896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Aug</c:v>
                </c:pt>
                <c:pt idx="1">
                  <c:v>Sep</c:v>
                </c:pt>
                <c:pt idx="2">
                  <c:v>Oct</c:v>
                </c:pt>
                <c:pt idx="3">
                  <c:v>Nov</c:v>
                </c:pt>
                <c:pt idx="4">
                  <c:v>Dec</c:v>
                </c:pt>
                <c:pt idx="5">
                  <c:v>Jan</c:v>
                </c:pt>
                <c:pt idx="6">
                  <c:v>Feb</c:v>
                </c:pt>
                <c:pt idx="7">
                  <c:v>Mar</c:v>
                </c:pt>
                <c:pt idx="8">
                  <c:v>Apr</c:v>
                </c:pt>
                <c:pt idx="9">
                  <c:v>May</c:v>
                </c:pt>
                <c:pt idx="10">
                  <c:v>Jun</c:v>
                </c:pt>
                <c:pt idx="11">
                  <c:v>Jul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218</c:v>
                </c:pt>
                <c:pt idx="1">
                  <c:v>212</c:v>
                </c:pt>
                <c:pt idx="2">
                  <c:v>209</c:v>
                </c:pt>
                <c:pt idx="3">
                  <c:v>224</c:v>
                </c:pt>
                <c:pt idx="4">
                  <c:v>227</c:v>
                </c:pt>
                <c:pt idx="5">
                  <c:v>210</c:v>
                </c:pt>
                <c:pt idx="6">
                  <c:v>191</c:v>
                </c:pt>
                <c:pt idx="7">
                  <c:v>223</c:v>
                </c:pt>
                <c:pt idx="8">
                  <c:v>213</c:v>
                </c:pt>
                <c:pt idx="9">
                  <c:v>176</c:v>
                </c:pt>
                <c:pt idx="10">
                  <c:v>186</c:v>
                </c:pt>
                <c:pt idx="11">
                  <c:v>205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B6F6-42E1-B164-C01E7ED8E1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B7A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150"/>
        </c:scaling>
        <c:delete val="0"/>
        <c:axPos val="l"/>
        <c:majorGridlines>
          <c:spPr>
            <a:ln w="12700" cap="flat">
              <a:solidFill>
                <a:srgbClr val="DCE7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B7A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Bed 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47A-445F-AFC8-970BDB40122A}"/>
              </c:ext>
            </c:extLst>
          </c:dPt>
          <c:dPt>
            <c:idx val="1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47A-445F-AFC8-970BDB40122A}"/>
              </c:ext>
            </c:extLst>
          </c:dPt>
          <c:dPt>
            <c:idx val="2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47A-445F-AFC8-970BDB40122A}"/>
              </c:ext>
            </c:extLst>
          </c:dPt>
          <c:dPt>
            <c:idx val="3"/>
            <c:bubble3D val="0"/>
            <c:spPr>
              <a:solidFill>
                <a:srgbClr val="8FD4C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47A-445F-AFC8-970BDB40122A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47A-445F-AFC8-970BDB40122A}"/>
                </c:ext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47A-445F-AFC8-970BDB40122A}"/>
                </c:ext>
              </c:extLst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47A-445F-AFC8-970BDB40122A}"/>
                </c:ext>
              </c:extLst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47A-445F-AFC8-970BDB40122A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Semi-Private</c:v>
                </c:pt>
                <c:pt idx="1">
                  <c:v>ICU</c:v>
                </c:pt>
                <c:pt idx="2">
                  <c:v>Private</c:v>
                </c:pt>
                <c:pt idx="3">
                  <c:v>General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1963</c:v>
                </c:pt>
                <c:pt idx="1">
                  <c:v>1490</c:v>
                </c:pt>
                <c:pt idx="2">
                  <c:v>830</c:v>
                </c:pt>
                <c:pt idx="3">
                  <c:v>717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47A-445F-AFC8-970BDB4012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16324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862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0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.xml"/><Relationship Id="rId3" Type="http://schemas.openxmlformats.org/officeDocument/2006/relationships/image" Target="../media/image4.png"/><Relationship Id="rId7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12.png"/><Relationship Id="rId5" Type="http://schemas.openxmlformats.org/officeDocument/2006/relationships/image" Target="../media/image20.png"/><Relationship Id="rId10" Type="http://schemas.openxmlformats.org/officeDocument/2006/relationships/image" Target="../media/image23.png"/><Relationship Id="rId4" Type="http://schemas.openxmlformats.org/officeDocument/2006/relationships/image" Target="../media/image6.png"/><Relationship Id="rId9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14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28.png"/><Relationship Id="rId5" Type="http://schemas.openxmlformats.org/officeDocument/2006/relationships/image" Target="../media/image18.png"/><Relationship Id="rId10" Type="http://schemas.openxmlformats.org/officeDocument/2006/relationships/image" Target="../media/image11.png"/><Relationship Id="rId4" Type="http://schemas.openxmlformats.org/officeDocument/2006/relationships/image" Target="../media/image17.png"/><Relationship Id="rId9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0.png"/><Relationship Id="rId7" Type="http://schemas.openxmlformats.org/officeDocument/2006/relationships/image" Target="../media/image26.pn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32.png"/><Relationship Id="rId5" Type="http://schemas.openxmlformats.org/officeDocument/2006/relationships/image" Target="../media/image14.png"/><Relationship Id="rId10" Type="http://schemas.openxmlformats.org/officeDocument/2006/relationships/image" Target="../media/image28.png"/><Relationship Id="rId4" Type="http://schemas.openxmlformats.org/officeDocument/2006/relationships/image" Target="../media/image13.png"/><Relationship Id="rId9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11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463040"/>
            <a:ext cx="3474720" cy="3474720"/>
          </a:xfrm>
          <a:prstGeom prst="ellipse">
            <a:avLst/>
          </a:prstGeom>
          <a:solidFill>
            <a:srgbClr val="028090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247120" y="5120640"/>
            <a:ext cx="2377440" cy="2377440"/>
          </a:xfrm>
          <a:prstGeom prst="ellipse">
            <a:avLst/>
          </a:prstGeom>
          <a:solidFill>
            <a:srgbClr val="02C39A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INTERNSHIP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352" y="53035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Medical Operations Intelligence Dashboard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10332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Review — Team Introduction &amp; Dataset Overview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1764792"/>
            <a:ext cx="2999232" cy="566928"/>
          </a:xfrm>
          <a:prstGeom prst="roundRect">
            <a:avLst>
              <a:gd name="adj" fmla="val 11290"/>
            </a:avLst>
          </a:prstGeom>
          <a:solidFill>
            <a:srgbClr val="1B2451"/>
          </a:solidFill>
          <a:ln w="12700">
            <a:solidFill>
              <a:srgbClr val="3240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49808" y="1911096"/>
            <a:ext cx="329184" cy="329184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10" name="Image 0" descr="/home/claude/deck/icons/idbadg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812" y="1990100"/>
            <a:ext cx="171176" cy="17117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70432" y="1847088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Devashri Pavle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170432" y="2084832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694176" y="1792224"/>
            <a:ext cx="2999232" cy="566928"/>
          </a:xfrm>
          <a:prstGeom prst="roundRect">
            <a:avLst>
              <a:gd name="adj" fmla="val 11290"/>
            </a:avLst>
          </a:prstGeom>
          <a:solidFill>
            <a:srgbClr val="1B2451"/>
          </a:solidFill>
          <a:ln w="12700">
            <a:solidFill>
              <a:srgbClr val="32407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895344" y="1911096"/>
            <a:ext cx="329184" cy="329184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15" name="Image 1" descr="/home/claude/deck/icons/idbadg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4348" y="1990100"/>
            <a:ext cx="171176" cy="17117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315968" y="1847088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Neha Deshmukh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315968" y="2084832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548640" y="2450592"/>
            <a:ext cx="2999232" cy="566928"/>
          </a:xfrm>
          <a:prstGeom prst="roundRect">
            <a:avLst>
              <a:gd name="adj" fmla="val 11290"/>
            </a:avLst>
          </a:prstGeom>
          <a:solidFill>
            <a:srgbClr val="1B2451"/>
          </a:solidFill>
          <a:ln w="12700">
            <a:solidFill>
              <a:srgbClr val="324077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49808" y="2569464"/>
            <a:ext cx="329184" cy="329184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20" name="Image 2" descr="/home/claude/deck/icons/idbadg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812" y="2648468"/>
            <a:ext cx="171176" cy="17117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170432" y="2505456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Sayali Devkar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1170432" y="2743200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3694176" y="2450592"/>
            <a:ext cx="2999232" cy="566928"/>
          </a:xfrm>
          <a:prstGeom prst="roundRect">
            <a:avLst>
              <a:gd name="adj" fmla="val 11290"/>
            </a:avLst>
          </a:prstGeom>
          <a:solidFill>
            <a:srgbClr val="1B2451"/>
          </a:solidFill>
          <a:ln w="12700">
            <a:solidFill>
              <a:srgbClr val="324077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3895344" y="2569464"/>
            <a:ext cx="329184" cy="329184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25" name="Image 3" descr="/home/claude/deck/icons/idbadg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4348" y="2648468"/>
            <a:ext cx="171176" cy="17117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315968" y="2505456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Kancharla Jahnavi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4315968" y="2743200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548640" y="3108960"/>
            <a:ext cx="2999232" cy="566928"/>
          </a:xfrm>
          <a:prstGeom prst="roundRect">
            <a:avLst>
              <a:gd name="adj" fmla="val 11290"/>
            </a:avLst>
          </a:prstGeom>
          <a:solidFill>
            <a:srgbClr val="1B2451"/>
          </a:solidFill>
          <a:ln w="12700">
            <a:solidFill>
              <a:srgbClr val="32407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9" name="Shape 23"/>
          <p:cNvSpPr/>
          <p:nvPr/>
        </p:nvSpPr>
        <p:spPr>
          <a:xfrm>
            <a:off x="749808" y="3227832"/>
            <a:ext cx="329184" cy="329184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30" name="Image 4" descr="/home/claude/deck/icons/idbadg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812" y="3306836"/>
            <a:ext cx="171176" cy="17117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170432" y="3163824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Vedika Pandey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1170432" y="3401568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3694176" y="3108960"/>
            <a:ext cx="2999232" cy="566928"/>
          </a:xfrm>
          <a:prstGeom prst="roundRect">
            <a:avLst>
              <a:gd name="adj" fmla="val 11290"/>
            </a:avLst>
          </a:prstGeom>
          <a:solidFill>
            <a:srgbClr val="1B2451"/>
          </a:solidFill>
          <a:ln w="12700">
            <a:solidFill>
              <a:srgbClr val="324077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3895344" y="3227832"/>
            <a:ext cx="329184" cy="329184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35" name="Image 5" descr="/home/claude/deck/icons/idbadg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4348" y="3306836"/>
            <a:ext cx="171176" cy="171176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4315968" y="3163824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Placeholder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4315968" y="3401568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8" name="Shape 30"/>
          <p:cNvSpPr/>
          <p:nvPr/>
        </p:nvSpPr>
        <p:spPr>
          <a:xfrm>
            <a:off x="548640" y="3767328"/>
            <a:ext cx="2999232" cy="566928"/>
          </a:xfrm>
          <a:prstGeom prst="roundRect">
            <a:avLst>
              <a:gd name="adj" fmla="val 11290"/>
            </a:avLst>
          </a:prstGeom>
          <a:solidFill>
            <a:srgbClr val="1B2451"/>
          </a:solidFill>
          <a:ln w="12700">
            <a:solidFill>
              <a:srgbClr val="324077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749808" y="3886200"/>
            <a:ext cx="329184" cy="329184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40" name="Image 6" descr="/home/claude/deck/icons/idbadg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812" y="3965204"/>
            <a:ext cx="171176" cy="171176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1170432" y="3822192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Neha Kumari</a:t>
            </a:r>
            <a:endParaRPr lang="en-US" sz="1100" dirty="0"/>
          </a:p>
        </p:txBody>
      </p:sp>
      <p:sp>
        <p:nvSpPr>
          <p:cNvPr id="42" name="Text 33"/>
          <p:cNvSpPr/>
          <p:nvPr/>
        </p:nvSpPr>
        <p:spPr>
          <a:xfrm>
            <a:off x="1170432" y="4059936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3" name="Shape 34"/>
          <p:cNvSpPr/>
          <p:nvPr/>
        </p:nvSpPr>
        <p:spPr>
          <a:xfrm>
            <a:off x="3694176" y="3767328"/>
            <a:ext cx="2999232" cy="566928"/>
          </a:xfrm>
          <a:prstGeom prst="roundRect">
            <a:avLst>
              <a:gd name="adj" fmla="val 11290"/>
            </a:avLst>
          </a:prstGeom>
          <a:solidFill>
            <a:srgbClr val="1B2451"/>
          </a:solidFill>
          <a:ln w="12700">
            <a:solidFill>
              <a:srgbClr val="324077"/>
            </a:solidFill>
            <a:prstDash val="solid"/>
          </a:ln>
        </p:spPr>
      </p:sp>
      <p:sp>
        <p:nvSpPr>
          <p:cNvPr id="44" name="Shape 35"/>
          <p:cNvSpPr/>
          <p:nvPr/>
        </p:nvSpPr>
        <p:spPr>
          <a:xfrm>
            <a:off x="3895344" y="3886200"/>
            <a:ext cx="329184" cy="329184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45" name="Image 7" descr="/home/claude/deck/icons/idbadg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4348" y="3965204"/>
            <a:ext cx="171176" cy="171176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4315968" y="3822192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Placeholder</a:t>
            </a:r>
            <a:endParaRPr lang="en-US" sz="1100" dirty="0"/>
          </a:p>
        </p:txBody>
      </p:sp>
      <p:sp>
        <p:nvSpPr>
          <p:cNvPr id="47" name="Text 37"/>
          <p:cNvSpPr/>
          <p:nvPr/>
        </p:nvSpPr>
        <p:spPr>
          <a:xfrm>
            <a:off x="4315968" y="4059936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8" name="Shape 38"/>
          <p:cNvSpPr/>
          <p:nvPr/>
        </p:nvSpPr>
        <p:spPr>
          <a:xfrm>
            <a:off x="548640" y="4425696"/>
            <a:ext cx="2999232" cy="566928"/>
          </a:xfrm>
          <a:prstGeom prst="roundRect">
            <a:avLst>
              <a:gd name="adj" fmla="val 11290"/>
            </a:avLst>
          </a:prstGeom>
          <a:solidFill>
            <a:srgbClr val="1B2451"/>
          </a:solidFill>
          <a:ln w="12700">
            <a:solidFill>
              <a:srgbClr val="324077"/>
            </a:solidFill>
            <a:prstDash val="solid"/>
          </a:ln>
        </p:spPr>
      </p:sp>
      <p:sp>
        <p:nvSpPr>
          <p:cNvPr id="49" name="Shape 39"/>
          <p:cNvSpPr/>
          <p:nvPr/>
        </p:nvSpPr>
        <p:spPr>
          <a:xfrm>
            <a:off x="749808" y="4544568"/>
            <a:ext cx="329184" cy="329184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50" name="Image 8" descr="/home/claude/deck/icons/idbadg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812" y="4623572"/>
            <a:ext cx="171176" cy="171176"/>
          </a:xfrm>
          <a:prstGeom prst="rect">
            <a:avLst/>
          </a:prstGeom>
        </p:spPr>
      </p:pic>
      <p:sp>
        <p:nvSpPr>
          <p:cNvPr id="51" name="Text 40"/>
          <p:cNvSpPr/>
          <p:nvPr/>
        </p:nvSpPr>
        <p:spPr>
          <a:xfrm>
            <a:off x="1170432" y="448056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Manoj Kumar</a:t>
            </a:r>
            <a:endParaRPr lang="en-US" sz="1100" dirty="0"/>
          </a:p>
        </p:txBody>
      </p:sp>
      <p:sp>
        <p:nvSpPr>
          <p:cNvPr id="52" name="Text 41"/>
          <p:cNvSpPr/>
          <p:nvPr/>
        </p:nvSpPr>
        <p:spPr>
          <a:xfrm>
            <a:off x="1170432" y="4718304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53" name="Shape 42"/>
          <p:cNvSpPr/>
          <p:nvPr/>
        </p:nvSpPr>
        <p:spPr>
          <a:xfrm>
            <a:off x="3694176" y="4425696"/>
            <a:ext cx="2999232" cy="566928"/>
          </a:xfrm>
          <a:prstGeom prst="roundRect">
            <a:avLst>
              <a:gd name="adj" fmla="val 11290"/>
            </a:avLst>
          </a:prstGeom>
          <a:solidFill>
            <a:srgbClr val="1B2451"/>
          </a:solidFill>
          <a:ln w="12700">
            <a:solidFill>
              <a:srgbClr val="324077"/>
            </a:solidFill>
            <a:prstDash val="solid"/>
          </a:ln>
        </p:spPr>
      </p:sp>
      <p:sp>
        <p:nvSpPr>
          <p:cNvPr id="54" name="Shape 43"/>
          <p:cNvSpPr/>
          <p:nvPr/>
        </p:nvSpPr>
        <p:spPr>
          <a:xfrm>
            <a:off x="3895344" y="4544568"/>
            <a:ext cx="329184" cy="329184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55" name="Image 9" descr="/home/claude/deck/icons/idbadg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4348" y="4623572"/>
            <a:ext cx="171176" cy="171176"/>
          </a:xfrm>
          <a:prstGeom prst="rect">
            <a:avLst/>
          </a:prstGeom>
        </p:spPr>
      </p:pic>
      <p:sp>
        <p:nvSpPr>
          <p:cNvPr id="56" name="Text 44"/>
          <p:cNvSpPr/>
          <p:nvPr/>
        </p:nvSpPr>
        <p:spPr>
          <a:xfrm>
            <a:off x="4315968" y="448056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Placeholder</a:t>
            </a:r>
            <a:endParaRPr lang="en-US" sz="1100" dirty="0"/>
          </a:p>
        </p:txBody>
      </p:sp>
      <p:sp>
        <p:nvSpPr>
          <p:cNvPr id="57" name="Text 45"/>
          <p:cNvSpPr/>
          <p:nvPr/>
        </p:nvSpPr>
        <p:spPr>
          <a:xfrm>
            <a:off x="4315968" y="4718304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58" name="Text 46"/>
          <p:cNvSpPr/>
          <p:nvPr/>
        </p:nvSpPr>
        <p:spPr>
          <a:xfrm>
            <a:off x="6967728" y="1481328"/>
            <a:ext cx="4672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150" dirty="0"/>
          </a:p>
        </p:txBody>
      </p:sp>
      <p:sp>
        <p:nvSpPr>
          <p:cNvPr id="59" name="Shape 47"/>
          <p:cNvSpPr/>
          <p:nvPr/>
        </p:nvSpPr>
        <p:spPr>
          <a:xfrm>
            <a:off x="6967728" y="1792224"/>
            <a:ext cx="4672584" cy="4160520"/>
          </a:xfrm>
          <a:prstGeom prst="roundRect">
            <a:avLst>
              <a:gd name="adj" fmla="val 1978"/>
            </a:avLst>
          </a:prstGeom>
          <a:solidFill>
            <a:srgbClr val="142046"/>
          </a:solidFill>
          <a:ln w="12700">
            <a:solidFill>
              <a:srgbClr val="324077"/>
            </a:solidFill>
            <a:prstDash val="solid"/>
          </a:ln>
        </p:spPr>
      </p:sp>
      <p:sp>
        <p:nvSpPr>
          <p:cNvPr id="60" name="Shape 48"/>
          <p:cNvSpPr/>
          <p:nvPr/>
        </p:nvSpPr>
        <p:spPr>
          <a:xfrm>
            <a:off x="7264908" y="2034540"/>
            <a:ext cx="502920" cy="502920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61" name="Image 10" descr="/home/claude/deck/icons/hospital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5609" y="2155241"/>
            <a:ext cx="261518" cy="261518"/>
          </a:xfrm>
          <a:prstGeom prst="rect">
            <a:avLst/>
          </a:prstGeom>
        </p:spPr>
      </p:pic>
      <p:sp>
        <p:nvSpPr>
          <p:cNvPr id="62" name="Text 49"/>
          <p:cNvSpPr/>
          <p:nvPr/>
        </p:nvSpPr>
        <p:spPr>
          <a:xfrm>
            <a:off x="7927848" y="2048256"/>
            <a:ext cx="3575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 Healthcare Dataset</a:t>
            </a:r>
            <a:endParaRPr lang="en-US" sz="1400" dirty="0"/>
          </a:p>
        </p:txBody>
      </p:sp>
      <p:sp>
        <p:nvSpPr>
          <p:cNvPr id="63" name="Text 50"/>
          <p:cNvSpPr/>
          <p:nvPr/>
        </p:nvSpPr>
        <p:spPr>
          <a:xfrm>
            <a:off x="7242048" y="2697480"/>
            <a:ext cx="4123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</a:t>
            </a:r>
            <a:endParaRPr lang="en-US" sz="3200" dirty="0"/>
          </a:p>
        </p:txBody>
      </p:sp>
      <p:sp>
        <p:nvSpPr>
          <p:cNvPr id="64" name="Text 51"/>
          <p:cNvSpPr/>
          <p:nvPr/>
        </p:nvSpPr>
        <p:spPr>
          <a:xfrm>
            <a:off x="7242048" y="3246120"/>
            <a:ext cx="4123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  ·  6 LINKED TABLES</a:t>
            </a:r>
            <a:endParaRPr lang="en-US" sz="1000" dirty="0"/>
          </a:p>
        </p:txBody>
      </p:sp>
      <p:sp>
        <p:nvSpPr>
          <p:cNvPr id="65" name="Shape 52"/>
          <p:cNvSpPr/>
          <p:nvPr/>
        </p:nvSpPr>
        <p:spPr>
          <a:xfrm>
            <a:off x="7242048" y="3657600"/>
            <a:ext cx="4123944" cy="0"/>
          </a:xfrm>
          <a:prstGeom prst="line">
            <a:avLst/>
          </a:prstGeom>
          <a:noFill/>
          <a:ln w="12700">
            <a:solidFill>
              <a:srgbClr val="324077"/>
            </a:solidFill>
            <a:prstDash val="solid"/>
          </a:ln>
        </p:spPr>
      </p:sp>
      <p:sp>
        <p:nvSpPr>
          <p:cNvPr id="66" name="Shape 53"/>
          <p:cNvSpPr/>
          <p:nvPr/>
        </p:nvSpPr>
        <p:spPr>
          <a:xfrm>
            <a:off x="7296912" y="3877056"/>
            <a:ext cx="402336" cy="402336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67" name="Image 11" descr="/home/claude/deck/icons/user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3473" y="3973617"/>
            <a:ext cx="209215" cy="209215"/>
          </a:xfrm>
          <a:prstGeom prst="rect">
            <a:avLst/>
          </a:prstGeom>
        </p:spPr>
      </p:pic>
      <p:sp>
        <p:nvSpPr>
          <p:cNvPr id="68" name="Text 54"/>
          <p:cNvSpPr/>
          <p:nvPr/>
        </p:nvSpPr>
        <p:spPr>
          <a:xfrm>
            <a:off x="7104888" y="433425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6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950" dirty="0"/>
          </a:p>
        </p:txBody>
      </p:sp>
      <p:sp>
        <p:nvSpPr>
          <p:cNvPr id="69" name="Shape 55"/>
          <p:cNvSpPr/>
          <p:nvPr/>
        </p:nvSpPr>
        <p:spPr>
          <a:xfrm>
            <a:off x="8668512" y="3877056"/>
            <a:ext cx="402336" cy="402336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70" name="Image 12" descr="/home/claude/deck/icons/procedure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5073" y="3973617"/>
            <a:ext cx="209215" cy="209215"/>
          </a:xfrm>
          <a:prstGeom prst="rect">
            <a:avLst/>
          </a:prstGeom>
        </p:spPr>
      </p:pic>
      <p:sp>
        <p:nvSpPr>
          <p:cNvPr id="71" name="Text 56"/>
          <p:cNvSpPr/>
          <p:nvPr/>
        </p:nvSpPr>
        <p:spPr>
          <a:xfrm>
            <a:off x="8476488" y="433425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6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</a:t>
            </a:r>
            <a:endParaRPr lang="en-US" sz="950" dirty="0"/>
          </a:p>
        </p:txBody>
      </p:sp>
      <p:sp>
        <p:nvSpPr>
          <p:cNvPr id="72" name="Shape 57"/>
          <p:cNvSpPr/>
          <p:nvPr/>
        </p:nvSpPr>
        <p:spPr>
          <a:xfrm>
            <a:off x="10040112" y="3877056"/>
            <a:ext cx="402336" cy="402336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73" name="Image 13" descr="/home/claude/deck/icons/stethoscop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36673" y="3973617"/>
            <a:ext cx="209215" cy="209215"/>
          </a:xfrm>
          <a:prstGeom prst="rect">
            <a:avLst/>
          </a:prstGeom>
        </p:spPr>
      </p:pic>
      <p:sp>
        <p:nvSpPr>
          <p:cNvPr id="74" name="Text 58"/>
          <p:cNvSpPr/>
          <p:nvPr/>
        </p:nvSpPr>
        <p:spPr>
          <a:xfrm>
            <a:off x="9848088" y="433425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6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950" dirty="0"/>
          </a:p>
        </p:txBody>
      </p:sp>
      <p:sp>
        <p:nvSpPr>
          <p:cNvPr id="75" name="Shape 59"/>
          <p:cNvSpPr/>
          <p:nvPr/>
        </p:nvSpPr>
        <p:spPr>
          <a:xfrm>
            <a:off x="7296912" y="4535424"/>
            <a:ext cx="402336" cy="402336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76" name="Image 14" descr="/home/claude/deck/icons/idbadg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473" y="4631985"/>
            <a:ext cx="209215" cy="209215"/>
          </a:xfrm>
          <a:prstGeom prst="rect">
            <a:avLst/>
          </a:prstGeom>
        </p:spPr>
      </p:pic>
      <p:sp>
        <p:nvSpPr>
          <p:cNvPr id="77" name="Text 60"/>
          <p:cNvSpPr/>
          <p:nvPr/>
        </p:nvSpPr>
        <p:spPr>
          <a:xfrm>
            <a:off x="7104888" y="499262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6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950" dirty="0"/>
          </a:p>
        </p:txBody>
      </p:sp>
      <p:sp>
        <p:nvSpPr>
          <p:cNvPr id="78" name="Shape 61"/>
          <p:cNvSpPr/>
          <p:nvPr/>
        </p:nvSpPr>
        <p:spPr>
          <a:xfrm>
            <a:off x="8668512" y="4535424"/>
            <a:ext cx="402336" cy="402336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79" name="Image 15" descr="/home/claude/deck/icons/bed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65073" y="4631985"/>
            <a:ext cx="209215" cy="209215"/>
          </a:xfrm>
          <a:prstGeom prst="rect">
            <a:avLst/>
          </a:prstGeom>
        </p:spPr>
      </p:pic>
      <p:sp>
        <p:nvSpPr>
          <p:cNvPr id="80" name="Text 62"/>
          <p:cNvSpPr/>
          <p:nvPr/>
        </p:nvSpPr>
        <p:spPr>
          <a:xfrm>
            <a:off x="8476488" y="499262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6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</a:t>
            </a:r>
            <a:endParaRPr lang="en-US" sz="950" dirty="0"/>
          </a:p>
        </p:txBody>
      </p:sp>
      <p:sp>
        <p:nvSpPr>
          <p:cNvPr id="81" name="Shape 63"/>
          <p:cNvSpPr/>
          <p:nvPr/>
        </p:nvSpPr>
        <p:spPr>
          <a:xfrm>
            <a:off x="10040112" y="4535424"/>
            <a:ext cx="402336" cy="402336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82" name="Image 16" descr="/home/claude/deck/icons/fileinvoice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36673" y="4631985"/>
            <a:ext cx="209215" cy="209215"/>
          </a:xfrm>
          <a:prstGeom prst="rect">
            <a:avLst/>
          </a:prstGeom>
        </p:spPr>
      </p:pic>
      <p:sp>
        <p:nvSpPr>
          <p:cNvPr id="83" name="Text 64"/>
          <p:cNvSpPr/>
          <p:nvPr/>
        </p:nvSpPr>
        <p:spPr>
          <a:xfrm>
            <a:off x="9848088" y="499262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6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950" dirty="0"/>
          </a:p>
        </p:txBody>
      </p:sp>
      <p:sp>
        <p:nvSpPr>
          <p:cNvPr id="84" name="Text 65"/>
          <p:cNvSpPr/>
          <p:nvPr/>
        </p:nvSpPr>
        <p:spPr>
          <a:xfrm>
            <a:off x="7242048" y="5394960"/>
            <a:ext cx="4123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Privacy-safe, realistic hospital simulation built for operational analytics and dashboarding.</a:t>
            </a:r>
            <a:endParaRPr lang="en-US" sz="1050" dirty="0"/>
          </a:p>
        </p:txBody>
      </p:sp>
      <p:sp>
        <p:nvSpPr>
          <p:cNvPr id="85" name="Text 66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 |  Medical Operations Intelligence Dashboard  |  Milestone 1 Review</a:t>
            </a:r>
            <a:endParaRPr lang="en-US" sz="900" dirty="0"/>
          </a:p>
        </p:txBody>
      </p:sp>
      <p:sp>
        <p:nvSpPr>
          <p:cNvPr id="86" name="Text 6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1 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foundation for healthcare operations analytics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3200400"/>
          </a:xfrm>
          <a:prstGeom prst="roundRect">
            <a:avLst>
              <a:gd name="adj" fmla="val 2857"/>
            </a:avLst>
          </a:prstGeom>
          <a:solidFill>
            <a:srgbClr val="F2F8F8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459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87552" y="2066544"/>
            <a:ext cx="310896" cy="310896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7" name="Image 0" descr="/home/claude/deck/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167" y="2141159"/>
            <a:ext cx="161666" cy="16166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05740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healthcare operational datasets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87552" y="2578608"/>
            <a:ext cx="310896" cy="310896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10" name="Image 1" descr="/home/claude/deck/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167" y="2653223"/>
            <a:ext cx="161666" cy="16166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256946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preprocess datasets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987552" y="3090672"/>
            <a:ext cx="310896" cy="310896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13" name="Image 2" descr="/home/claude/deck/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167" y="3165287"/>
            <a:ext cx="161666" cy="16166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08152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healthcare data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987552" y="3602736"/>
            <a:ext cx="310896" cy="310896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16" name="Image 3" descr="/home/claude/deck/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167" y="3677351"/>
            <a:ext cx="161666" cy="16166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17320" y="359359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multiple healthcare tables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987552" y="4114800"/>
            <a:ext cx="310896" cy="310896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19" name="Image 4" descr="/home/claude/deck/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167" y="4189415"/>
            <a:ext cx="161666" cy="16166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417320" y="410565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data for dashboard analytics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6217920" y="1463040"/>
            <a:ext cx="5394960" cy="3200400"/>
          </a:xfrm>
          <a:prstGeom prst="roundRect">
            <a:avLst>
              <a:gd name="adj" fmla="val 2857"/>
            </a:avLst>
          </a:prstGeom>
          <a:solidFill>
            <a:srgbClr val="F2F8F8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6537960" y="16459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DELIVERABLES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6665976" y="2112264"/>
            <a:ext cx="384048" cy="384048"/>
          </a:xfrm>
          <a:prstGeom prst="ellipse">
            <a:avLst/>
          </a:prstGeom>
          <a:solidFill>
            <a:srgbClr val="02C39A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24" name="Image 5" descr="/home/claude/deck/icons/checkdoubl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8148" y="2204436"/>
            <a:ext cx="199705" cy="199705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223760" y="2103120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Dataset</a:t>
            </a:r>
            <a:endParaRPr lang="en-US" sz="1350" dirty="0"/>
          </a:p>
        </p:txBody>
      </p:sp>
      <p:sp>
        <p:nvSpPr>
          <p:cNvPr id="26" name="Shape 18"/>
          <p:cNvSpPr/>
          <p:nvPr/>
        </p:nvSpPr>
        <p:spPr>
          <a:xfrm>
            <a:off x="6665976" y="2734056"/>
            <a:ext cx="384048" cy="384048"/>
          </a:xfrm>
          <a:prstGeom prst="ellipse">
            <a:avLst/>
          </a:prstGeom>
          <a:solidFill>
            <a:srgbClr val="02C39A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27" name="Image 6" descr="/home/claude/deck/icons/databas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8148" y="2826228"/>
            <a:ext cx="199705" cy="199705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7223760" y="2724912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Healthcare Database</a:t>
            </a:r>
            <a:endParaRPr lang="en-US" sz="1350" dirty="0"/>
          </a:p>
        </p:txBody>
      </p:sp>
      <p:sp>
        <p:nvSpPr>
          <p:cNvPr id="29" name="Shape 20"/>
          <p:cNvSpPr/>
          <p:nvPr/>
        </p:nvSpPr>
        <p:spPr>
          <a:xfrm>
            <a:off x="6665976" y="3355848"/>
            <a:ext cx="384048" cy="384048"/>
          </a:xfrm>
          <a:prstGeom prst="ellipse">
            <a:avLst/>
          </a:prstGeom>
          <a:solidFill>
            <a:srgbClr val="02C39A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30" name="Image 7" descr="/home/claude/deck/icons/chartbar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8148" y="3448020"/>
            <a:ext cx="199705" cy="199705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7223760" y="3346704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KPI-Ready Data</a:t>
            </a:r>
            <a:endParaRPr lang="en-US" sz="1350" dirty="0"/>
          </a:p>
        </p:txBody>
      </p:sp>
      <p:sp>
        <p:nvSpPr>
          <p:cNvPr id="32" name="Shape 22"/>
          <p:cNvSpPr/>
          <p:nvPr/>
        </p:nvSpPr>
        <p:spPr>
          <a:xfrm>
            <a:off x="6665976" y="3977640"/>
            <a:ext cx="384048" cy="384048"/>
          </a:xfrm>
          <a:prstGeom prst="ellipse">
            <a:avLst/>
          </a:prstGeom>
          <a:solidFill>
            <a:srgbClr val="02C39A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33" name="Image 8" descr="/home/claude/deck/icons/clipboard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8148" y="4069812"/>
            <a:ext cx="199705" cy="199705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7223760" y="3968496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350" dirty="0"/>
          </a:p>
        </p:txBody>
      </p:sp>
      <p:sp>
        <p:nvSpPr>
          <p:cNvPr id="35" name="Text 24"/>
          <p:cNvSpPr/>
          <p:nvPr/>
        </p:nvSpPr>
        <p:spPr>
          <a:xfrm>
            <a:off x="548640" y="4892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FLOW</a:t>
            </a:r>
            <a:endParaRPr lang="en-US" sz="1200" dirty="0"/>
          </a:p>
        </p:txBody>
      </p:sp>
      <p:sp>
        <p:nvSpPr>
          <p:cNvPr id="36" name="Shape 25"/>
          <p:cNvSpPr/>
          <p:nvPr/>
        </p:nvSpPr>
        <p:spPr>
          <a:xfrm>
            <a:off x="1307592" y="5477256"/>
            <a:ext cx="658368" cy="658368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37" name="Image 9" descr="/home/claude/deck/icons/databas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5600" y="5635264"/>
            <a:ext cx="342351" cy="342351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640080" y="6199632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200" dirty="0"/>
          </a:p>
        </p:txBody>
      </p:sp>
      <p:sp>
        <p:nvSpPr>
          <p:cNvPr id="39" name="Shape 27"/>
          <p:cNvSpPr/>
          <p:nvPr/>
        </p:nvSpPr>
        <p:spPr>
          <a:xfrm>
            <a:off x="2020824" y="5751576"/>
            <a:ext cx="1408176" cy="146304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40" name="Shape 28"/>
          <p:cNvSpPr/>
          <p:nvPr/>
        </p:nvSpPr>
        <p:spPr>
          <a:xfrm>
            <a:off x="3483864" y="5477256"/>
            <a:ext cx="658368" cy="658368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41" name="Image 10" descr="/home/claude/deck/icons/broom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41872" y="5635264"/>
            <a:ext cx="342351" cy="342351"/>
          </a:xfrm>
          <a:prstGeom prst="rect">
            <a:avLst/>
          </a:prstGeom>
        </p:spPr>
      </p:pic>
      <p:sp>
        <p:nvSpPr>
          <p:cNvPr id="42" name="Text 29"/>
          <p:cNvSpPr/>
          <p:nvPr/>
        </p:nvSpPr>
        <p:spPr>
          <a:xfrm>
            <a:off x="2816352" y="6199632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200" dirty="0"/>
          </a:p>
        </p:txBody>
      </p:sp>
      <p:sp>
        <p:nvSpPr>
          <p:cNvPr id="43" name="Shape 30"/>
          <p:cNvSpPr/>
          <p:nvPr/>
        </p:nvSpPr>
        <p:spPr>
          <a:xfrm>
            <a:off x="4197096" y="5751576"/>
            <a:ext cx="1408176" cy="146304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44" name="Shape 31"/>
          <p:cNvSpPr/>
          <p:nvPr/>
        </p:nvSpPr>
        <p:spPr>
          <a:xfrm>
            <a:off x="5660136" y="5477256"/>
            <a:ext cx="658368" cy="658368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45" name="Image 11" descr="/home/claude/deck/icons/link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18144" y="5635264"/>
            <a:ext cx="342351" cy="342351"/>
          </a:xfrm>
          <a:prstGeom prst="rect">
            <a:avLst/>
          </a:prstGeom>
        </p:spPr>
      </p:pic>
      <p:sp>
        <p:nvSpPr>
          <p:cNvPr id="46" name="Text 32"/>
          <p:cNvSpPr/>
          <p:nvPr/>
        </p:nvSpPr>
        <p:spPr>
          <a:xfrm>
            <a:off x="4992624" y="6199632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</a:t>
            </a:r>
            <a:endParaRPr lang="en-US" sz="1200" dirty="0"/>
          </a:p>
        </p:txBody>
      </p:sp>
      <p:sp>
        <p:nvSpPr>
          <p:cNvPr id="47" name="Shape 33"/>
          <p:cNvSpPr/>
          <p:nvPr/>
        </p:nvSpPr>
        <p:spPr>
          <a:xfrm>
            <a:off x="6373368" y="5751576"/>
            <a:ext cx="1408176" cy="146304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48" name="Shape 34"/>
          <p:cNvSpPr/>
          <p:nvPr/>
        </p:nvSpPr>
        <p:spPr>
          <a:xfrm>
            <a:off x="7836408" y="5477256"/>
            <a:ext cx="658368" cy="658368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49" name="Image 12" descr="/home/claude/deck/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4416" y="5635264"/>
            <a:ext cx="342351" cy="342351"/>
          </a:xfrm>
          <a:prstGeom prst="rect">
            <a:avLst/>
          </a:prstGeom>
        </p:spPr>
      </p:pic>
      <p:sp>
        <p:nvSpPr>
          <p:cNvPr id="50" name="Text 35"/>
          <p:cNvSpPr/>
          <p:nvPr/>
        </p:nvSpPr>
        <p:spPr>
          <a:xfrm>
            <a:off x="7168896" y="6199632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200" dirty="0"/>
          </a:p>
        </p:txBody>
      </p:sp>
      <p:sp>
        <p:nvSpPr>
          <p:cNvPr id="51" name="Shape 36"/>
          <p:cNvSpPr/>
          <p:nvPr/>
        </p:nvSpPr>
        <p:spPr>
          <a:xfrm>
            <a:off x="8549640" y="5751576"/>
            <a:ext cx="1408176" cy="146304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52" name="Shape 37"/>
          <p:cNvSpPr/>
          <p:nvPr/>
        </p:nvSpPr>
        <p:spPr>
          <a:xfrm>
            <a:off x="10012680" y="5477256"/>
            <a:ext cx="658368" cy="658368"/>
          </a:xfrm>
          <a:prstGeom prst="ellipse">
            <a:avLst/>
          </a:prstGeom>
          <a:solidFill>
            <a:srgbClr val="02C39A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53" name="Image 13" descr="/home/claude/deck/icons/chartbar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70688" y="5635264"/>
            <a:ext cx="342351" cy="342351"/>
          </a:xfrm>
          <a:prstGeom prst="rect">
            <a:avLst/>
          </a:prstGeom>
        </p:spPr>
      </p:pic>
      <p:sp>
        <p:nvSpPr>
          <p:cNvPr id="54" name="Text 38"/>
          <p:cNvSpPr/>
          <p:nvPr/>
        </p:nvSpPr>
        <p:spPr>
          <a:xfrm>
            <a:off x="9345168" y="6199632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200" dirty="0"/>
          </a:p>
        </p:txBody>
      </p:sp>
      <p:sp>
        <p:nvSpPr>
          <p:cNvPr id="55" name="Text 39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 |  Medical Operations Intelligence Dashboard  |  Milestone 1 Review</a:t>
            </a:r>
            <a:endParaRPr lang="en-US" sz="900" dirty="0"/>
          </a:p>
        </p:txBody>
      </p:sp>
      <p:sp>
        <p:nvSpPr>
          <p:cNvPr id="56" name="Text 4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1280E1C-3658-10BB-139A-312A248A9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987" y="344156"/>
            <a:ext cx="11370025" cy="6169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0050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Preparation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334006" y="1133856"/>
            <a:ext cx="566928" cy="566928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4" name="Image 0" descr="/home/claude/deck/icons/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0069" y="1269919"/>
            <a:ext cx="294803" cy="29480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1755648"/>
            <a:ext cx="2125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2964942" y="1362456"/>
            <a:ext cx="1613916" cy="146304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7" name="Shape 4"/>
          <p:cNvSpPr/>
          <p:nvPr/>
        </p:nvSpPr>
        <p:spPr>
          <a:xfrm>
            <a:off x="4642866" y="1133856"/>
            <a:ext cx="566928" cy="566928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8" name="Image 1" descr="/home/claude/deck/icons/broom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8929" y="1269919"/>
            <a:ext cx="294803" cy="29480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63340" y="1755648"/>
            <a:ext cx="2125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273802" y="1362456"/>
            <a:ext cx="1613916" cy="146304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11" name="Shape 7"/>
          <p:cNvSpPr/>
          <p:nvPr/>
        </p:nvSpPr>
        <p:spPr>
          <a:xfrm>
            <a:off x="6951726" y="1133856"/>
            <a:ext cx="566928" cy="566928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12" name="Image 2" descr="/home/claude/deck/icons/che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7789" y="1269919"/>
            <a:ext cx="294803" cy="29480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172200" y="1755648"/>
            <a:ext cx="2125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7582662" y="1362456"/>
            <a:ext cx="1613916" cy="146304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15" name="Shape 10"/>
          <p:cNvSpPr/>
          <p:nvPr/>
        </p:nvSpPr>
        <p:spPr>
          <a:xfrm>
            <a:off x="9260586" y="1133856"/>
            <a:ext cx="566928" cy="566928"/>
          </a:xfrm>
          <a:prstGeom prst="ellipse">
            <a:avLst/>
          </a:prstGeom>
          <a:solidFill>
            <a:srgbClr val="02C39A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16" name="Image 3" descr="/home/claude/deck/icons/checkdoubl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6649" y="1269919"/>
            <a:ext cx="294803" cy="29480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481060" y="1755648"/>
            <a:ext cx="2125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Dataset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548640" y="2331720"/>
            <a:ext cx="3529584" cy="1417320"/>
          </a:xfrm>
          <a:prstGeom prst="roundRect">
            <a:avLst>
              <a:gd name="adj" fmla="val 5161"/>
            </a:avLst>
          </a:prstGeom>
          <a:solidFill>
            <a:srgbClr val="F2F8F8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731520" y="2514600"/>
            <a:ext cx="402336" cy="402336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20" name="Image 4" descr="/home/claude/deck/icons/che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081" y="2611161"/>
            <a:ext cx="209215" cy="20921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261872" y="2441448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Generation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731520" y="2990088"/>
            <a:ext cx="3163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records generated with Faker using Indian demographic details</a:t>
            </a:r>
            <a:endParaRPr lang="en-US" sz="970" dirty="0"/>
          </a:p>
        </p:txBody>
      </p:sp>
      <p:sp>
        <p:nvSpPr>
          <p:cNvPr id="23" name="Shape 16"/>
          <p:cNvSpPr/>
          <p:nvPr/>
        </p:nvSpPr>
        <p:spPr>
          <a:xfrm>
            <a:off x="4251960" y="2331720"/>
            <a:ext cx="3529584" cy="1417320"/>
          </a:xfrm>
          <a:prstGeom prst="roundRect">
            <a:avLst>
              <a:gd name="adj" fmla="val 5161"/>
            </a:avLst>
          </a:prstGeom>
          <a:solidFill>
            <a:srgbClr val="F2F8F8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4434840" y="2514600"/>
            <a:ext cx="402336" cy="402336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25" name="Image 5" descr="/home/claude/deck/icons/che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1401" y="2611161"/>
            <a:ext cx="209215" cy="209215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965192" y="2441448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Standardization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4434840" y="2990088"/>
            <a:ext cx="3163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Admission_Date, Discharge_Date, Contact_no</a:t>
            </a:r>
            <a:endParaRPr lang="en-US" sz="970" dirty="0"/>
          </a:p>
        </p:txBody>
      </p:sp>
      <p:sp>
        <p:nvSpPr>
          <p:cNvPr id="28" name="Shape 20"/>
          <p:cNvSpPr/>
          <p:nvPr/>
        </p:nvSpPr>
        <p:spPr>
          <a:xfrm>
            <a:off x="7955280" y="2331720"/>
            <a:ext cx="3529584" cy="1417320"/>
          </a:xfrm>
          <a:prstGeom prst="roundRect">
            <a:avLst>
              <a:gd name="adj" fmla="val 5161"/>
            </a:avLst>
          </a:prstGeom>
          <a:solidFill>
            <a:srgbClr val="F2F8F8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8138160" y="2514600"/>
            <a:ext cx="402336" cy="402336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30" name="Image 6" descr="/home/claude/deck/icons/che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4721" y="2611161"/>
            <a:ext cx="209215" cy="209215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8668512" y="2441448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</a:t>
            </a:r>
            <a:endParaRPr lang="en-US" sz="1200" dirty="0"/>
          </a:p>
        </p:txBody>
      </p:sp>
      <p:sp>
        <p:nvSpPr>
          <p:cNvPr id="32" name="Text 23"/>
          <p:cNvSpPr/>
          <p:nvPr/>
        </p:nvSpPr>
        <p:spPr>
          <a:xfrm>
            <a:off x="8138160" y="2990088"/>
            <a:ext cx="3163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IDs across Patients, Admissions, Doctors, Staff, Beds &amp; Bills</a:t>
            </a:r>
            <a:endParaRPr lang="en-US" sz="970" dirty="0"/>
          </a:p>
        </p:txBody>
      </p:sp>
      <p:sp>
        <p:nvSpPr>
          <p:cNvPr id="33" name="Shape 24"/>
          <p:cNvSpPr/>
          <p:nvPr/>
        </p:nvSpPr>
        <p:spPr>
          <a:xfrm>
            <a:off x="548640" y="3931920"/>
            <a:ext cx="3529584" cy="1417320"/>
          </a:xfrm>
          <a:prstGeom prst="roundRect">
            <a:avLst>
              <a:gd name="adj" fmla="val 5161"/>
            </a:avLst>
          </a:prstGeom>
          <a:solidFill>
            <a:srgbClr val="F2F8F8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34" name="Shape 25"/>
          <p:cNvSpPr/>
          <p:nvPr/>
        </p:nvSpPr>
        <p:spPr>
          <a:xfrm>
            <a:off x="731520" y="4114800"/>
            <a:ext cx="402336" cy="402336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35" name="Image 7" descr="/home/claude/deck/icons/che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081" y="4211361"/>
            <a:ext cx="209215" cy="209215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1261872" y="4041648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 Verification</a:t>
            </a:r>
            <a:endParaRPr lang="en-US" sz="1200" dirty="0"/>
          </a:p>
        </p:txBody>
      </p:sp>
      <p:sp>
        <p:nvSpPr>
          <p:cNvPr id="37" name="Text 27"/>
          <p:cNvSpPr/>
          <p:nvPr/>
        </p:nvSpPr>
        <p:spPr>
          <a:xfrm>
            <a:off x="731520" y="4590288"/>
            <a:ext cx="3163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Amount ≤ Total Amount   ·   Insurance + Paid Amount = Total Amount</a:t>
            </a:r>
            <a:endParaRPr lang="en-US" sz="970" dirty="0"/>
          </a:p>
        </p:txBody>
      </p:sp>
      <p:sp>
        <p:nvSpPr>
          <p:cNvPr id="38" name="Shape 28"/>
          <p:cNvSpPr/>
          <p:nvPr/>
        </p:nvSpPr>
        <p:spPr>
          <a:xfrm>
            <a:off x="4251960" y="3931920"/>
            <a:ext cx="3529584" cy="1417320"/>
          </a:xfrm>
          <a:prstGeom prst="roundRect">
            <a:avLst>
              <a:gd name="adj" fmla="val 5161"/>
            </a:avLst>
          </a:prstGeom>
          <a:solidFill>
            <a:srgbClr val="F2F8F8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39" name="Shape 29"/>
          <p:cNvSpPr/>
          <p:nvPr/>
        </p:nvSpPr>
        <p:spPr>
          <a:xfrm>
            <a:off x="4434840" y="4114800"/>
            <a:ext cx="402336" cy="402336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40" name="Image 8" descr="/home/claude/deck/icons/che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1401" y="4211361"/>
            <a:ext cx="209215" cy="209215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4965192" y="4041648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Consistency</a:t>
            </a:r>
            <a:endParaRPr lang="en-US" sz="1200" dirty="0"/>
          </a:p>
        </p:txBody>
      </p:sp>
      <p:sp>
        <p:nvSpPr>
          <p:cNvPr id="42" name="Text 31"/>
          <p:cNvSpPr/>
          <p:nvPr/>
        </p:nvSpPr>
        <p:spPr>
          <a:xfrm>
            <a:off x="4434840" y="4590288"/>
            <a:ext cx="3163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consistency between Total Amount, Insurance Coverage and Paid Amount</a:t>
            </a:r>
            <a:endParaRPr lang="en-US" sz="970" dirty="0"/>
          </a:p>
        </p:txBody>
      </p:sp>
      <p:sp>
        <p:nvSpPr>
          <p:cNvPr id="43" name="Shape 32"/>
          <p:cNvSpPr/>
          <p:nvPr/>
        </p:nvSpPr>
        <p:spPr>
          <a:xfrm>
            <a:off x="7955280" y="3931920"/>
            <a:ext cx="3529584" cy="1417320"/>
          </a:xfrm>
          <a:prstGeom prst="roundRect">
            <a:avLst>
              <a:gd name="adj" fmla="val 5161"/>
            </a:avLst>
          </a:prstGeom>
          <a:solidFill>
            <a:srgbClr val="F2F8F8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44" name="Shape 33"/>
          <p:cNvSpPr/>
          <p:nvPr/>
        </p:nvSpPr>
        <p:spPr>
          <a:xfrm>
            <a:off x="8138160" y="4114800"/>
            <a:ext cx="402336" cy="402336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45" name="Image 9" descr="/home/claude/deck/icons/che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4721" y="4211361"/>
            <a:ext cx="209215" cy="209215"/>
          </a:xfrm>
          <a:prstGeom prst="rect">
            <a:avLst/>
          </a:prstGeom>
        </p:spPr>
      </p:pic>
      <p:sp>
        <p:nvSpPr>
          <p:cNvPr id="46" name="Text 34"/>
          <p:cNvSpPr/>
          <p:nvPr/>
        </p:nvSpPr>
        <p:spPr>
          <a:xfrm>
            <a:off x="8668512" y="4041648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</a:t>
            </a:r>
            <a:endParaRPr lang="en-US" sz="1200" dirty="0"/>
          </a:p>
        </p:txBody>
      </p:sp>
      <p:sp>
        <p:nvSpPr>
          <p:cNvPr id="47" name="Text 35"/>
          <p:cNvSpPr/>
          <p:nvPr/>
        </p:nvSpPr>
        <p:spPr>
          <a:xfrm>
            <a:off x="8138160" y="4590288"/>
            <a:ext cx="3163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 · no duplicate IDs · consistent relationships</a:t>
            </a:r>
            <a:endParaRPr lang="en-US" sz="970" dirty="0"/>
          </a:p>
        </p:txBody>
      </p:sp>
      <p:sp>
        <p:nvSpPr>
          <p:cNvPr id="48" name="Text 36"/>
          <p:cNvSpPr/>
          <p:nvPr/>
        </p:nvSpPr>
        <p:spPr>
          <a:xfrm>
            <a:off x="397216" y="6067271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150" dirty="0"/>
          </a:p>
        </p:txBody>
      </p:sp>
      <p:sp>
        <p:nvSpPr>
          <p:cNvPr id="49" name="Shape 37"/>
          <p:cNvSpPr/>
          <p:nvPr/>
        </p:nvSpPr>
        <p:spPr>
          <a:xfrm>
            <a:off x="1916948" y="6067578"/>
            <a:ext cx="329184" cy="329184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50" name="Image 10" descr="/home/claude/deck/icons/python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95952" y="6146582"/>
            <a:ext cx="171176" cy="171176"/>
          </a:xfrm>
          <a:prstGeom prst="rect">
            <a:avLst/>
          </a:prstGeom>
        </p:spPr>
      </p:pic>
      <p:sp>
        <p:nvSpPr>
          <p:cNvPr id="51" name="Text 38"/>
          <p:cNvSpPr/>
          <p:nvPr/>
        </p:nvSpPr>
        <p:spPr>
          <a:xfrm>
            <a:off x="2319284" y="606757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52" name="Shape 39"/>
          <p:cNvSpPr/>
          <p:nvPr/>
        </p:nvSpPr>
        <p:spPr>
          <a:xfrm>
            <a:off x="4248668" y="6067578"/>
            <a:ext cx="329184" cy="329184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53" name="Image 11" descr="/home/claude/deck/icons/tabl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27672" y="6146582"/>
            <a:ext cx="171176" cy="171176"/>
          </a:xfrm>
          <a:prstGeom prst="rect">
            <a:avLst/>
          </a:prstGeom>
        </p:spPr>
      </p:pic>
      <p:sp>
        <p:nvSpPr>
          <p:cNvPr id="54" name="Text 40"/>
          <p:cNvSpPr/>
          <p:nvPr/>
        </p:nvSpPr>
        <p:spPr>
          <a:xfrm>
            <a:off x="4651004" y="606757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100" dirty="0"/>
          </a:p>
        </p:txBody>
      </p:sp>
      <p:sp>
        <p:nvSpPr>
          <p:cNvPr id="55" name="Shape 41"/>
          <p:cNvSpPr/>
          <p:nvPr/>
        </p:nvSpPr>
        <p:spPr>
          <a:xfrm>
            <a:off x="6580388" y="6067578"/>
            <a:ext cx="329184" cy="329184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56" name="Image 12" descr="/home/claude/deck/icons/usersecret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59392" y="6146582"/>
            <a:ext cx="171176" cy="171176"/>
          </a:xfrm>
          <a:prstGeom prst="rect">
            <a:avLst/>
          </a:prstGeom>
        </p:spPr>
      </p:pic>
      <p:sp>
        <p:nvSpPr>
          <p:cNvPr id="57" name="Text 42"/>
          <p:cNvSpPr/>
          <p:nvPr/>
        </p:nvSpPr>
        <p:spPr>
          <a:xfrm>
            <a:off x="6982724" y="606757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Faker</a:t>
            </a:r>
            <a:endParaRPr lang="en-US" sz="1100" dirty="0"/>
          </a:p>
        </p:txBody>
      </p:sp>
      <p:sp>
        <p:nvSpPr>
          <p:cNvPr id="58" name="Shape 43"/>
          <p:cNvSpPr/>
          <p:nvPr/>
        </p:nvSpPr>
        <p:spPr>
          <a:xfrm>
            <a:off x="8912108" y="6067578"/>
            <a:ext cx="329184" cy="329184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59" name="Image 13" descr="/home/claude/deck/icons/random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91112" y="6146582"/>
            <a:ext cx="171176" cy="171176"/>
          </a:xfrm>
          <a:prstGeom prst="rect">
            <a:avLst/>
          </a:prstGeom>
        </p:spPr>
      </p:pic>
      <p:sp>
        <p:nvSpPr>
          <p:cNvPr id="60" name="Text 44"/>
          <p:cNvSpPr/>
          <p:nvPr/>
        </p:nvSpPr>
        <p:spPr>
          <a:xfrm>
            <a:off x="9314444" y="606757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Module</a:t>
            </a:r>
            <a:endParaRPr lang="en-US" sz="1100" dirty="0"/>
          </a:p>
        </p:txBody>
      </p:sp>
      <p:sp>
        <p:nvSpPr>
          <p:cNvPr id="61" name="Text 45"/>
          <p:cNvSpPr/>
          <p:nvPr/>
        </p:nvSpPr>
        <p:spPr>
          <a:xfrm>
            <a:off x="397216" y="6630453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 |  Medical Operations Intelligence Dashboard  |  Milestone 1 Review</a:t>
            </a:r>
            <a:endParaRPr lang="en-US" sz="900" dirty="0"/>
          </a:p>
        </p:txBody>
      </p:sp>
      <p:sp>
        <p:nvSpPr>
          <p:cNvPr id="62" name="Text 4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Progressive Results — KPI Dashboard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KPIs generated from the integrated healthcare dataset (5,000 records)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15184" cy="868680"/>
          </a:xfrm>
          <a:prstGeom prst="roundRect">
            <a:avLst>
              <a:gd name="adj" fmla="val 9474"/>
            </a:avLst>
          </a:prstGeom>
          <a:solidFill>
            <a:srgbClr val="21295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577340"/>
            <a:ext cx="457200" cy="457200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6" name="Image 0" descr="/home/claude/deck/icons/procedure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168706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481328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417320" y="1883664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Admissions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37560" y="1371600"/>
            <a:ext cx="2615184" cy="868680"/>
          </a:xfrm>
          <a:prstGeom prst="roundRect">
            <a:avLst>
              <a:gd name="adj" fmla="val 9474"/>
            </a:avLst>
          </a:prstGeom>
          <a:solidFill>
            <a:srgbClr val="21295C"/>
          </a:solidFill>
          <a:ln/>
        </p:spPr>
      </p:sp>
      <p:sp>
        <p:nvSpPr>
          <p:cNvPr id="10" name="Shape 7"/>
          <p:cNvSpPr/>
          <p:nvPr/>
        </p:nvSpPr>
        <p:spPr>
          <a:xfrm>
            <a:off x="3611880" y="1577340"/>
            <a:ext cx="457200" cy="457200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11" name="Image 1" descr="/home/claude/deck/icons/be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1608" y="168706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06240" y="1481328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56.9%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206240" y="1883664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Occupancy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26480" y="1371600"/>
            <a:ext cx="2615184" cy="868680"/>
          </a:xfrm>
          <a:prstGeom prst="roundRect">
            <a:avLst>
              <a:gd name="adj" fmla="val 9474"/>
            </a:avLst>
          </a:prstGeom>
          <a:solidFill>
            <a:srgbClr val="21295C"/>
          </a:solidFill>
          <a:ln/>
        </p:spPr>
      </p:sp>
      <p:sp>
        <p:nvSpPr>
          <p:cNvPr id="15" name="Shape 11"/>
          <p:cNvSpPr/>
          <p:nvPr/>
        </p:nvSpPr>
        <p:spPr>
          <a:xfrm>
            <a:off x="6400800" y="1577340"/>
            <a:ext cx="457200" cy="457200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16" name="Image 2" descr="/home/claude/deck/icons/money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28" y="168706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95160" y="1481328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₹53.1 Cr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6995160" y="1883664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8915400" y="1371600"/>
            <a:ext cx="2615184" cy="868680"/>
          </a:xfrm>
          <a:prstGeom prst="roundRect">
            <a:avLst>
              <a:gd name="adj" fmla="val 9474"/>
            </a:avLst>
          </a:prstGeom>
          <a:solidFill>
            <a:srgbClr val="21295C"/>
          </a:solidFill>
          <a:ln/>
        </p:spPr>
      </p:sp>
      <p:sp>
        <p:nvSpPr>
          <p:cNvPr id="20" name="Shape 15"/>
          <p:cNvSpPr/>
          <p:nvPr/>
        </p:nvSpPr>
        <p:spPr>
          <a:xfrm>
            <a:off x="9189720" y="1577340"/>
            <a:ext cx="457200" cy="457200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21" name="Image 3" descr="/home/claude/deck/icons/percen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9448" y="1687068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784080" y="1481328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22.9%</a:t>
            </a:r>
            <a:endParaRPr lang="en-US" sz="1900" dirty="0"/>
          </a:p>
        </p:txBody>
      </p:sp>
      <p:sp>
        <p:nvSpPr>
          <p:cNvPr id="23" name="Text 17"/>
          <p:cNvSpPr/>
          <p:nvPr/>
        </p:nvSpPr>
        <p:spPr>
          <a:xfrm>
            <a:off x="9784080" y="1883664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Rate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548640" y="231343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 TREND — LAST 12 MONTHS</a:t>
            </a:r>
            <a:endParaRPr lang="en-US" sz="110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548640" y="2606040"/>
          <a:ext cx="539496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6" name="Text 19"/>
          <p:cNvSpPr/>
          <p:nvPr/>
        </p:nvSpPr>
        <p:spPr>
          <a:xfrm>
            <a:off x="6217920" y="231343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TYPE DISTRIBUTION</a:t>
            </a:r>
            <a:endParaRPr lang="en-US" sz="1100" dirty="0"/>
          </a:p>
        </p:txBody>
      </p:sp>
      <p:graphicFrame>
        <p:nvGraphicFramePr>
          <p:cNvPr id="27" name="Chart 1"/>
          <p:cNvGraphicFramePr/>
          <p:nvPr/>
        </p:nvGraphicFramePr>
        <p:xfrm>
          <a:off x="6217920" y="2606040"/>
          <a:ext cx="539496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28" name="Shape 20"/>
          <p:cNvSpPr/>
          <p:nvPr/>
        </p:nvSpPr>
        <p:spPr>
          <a:xfrm>
            <a:off x="548640" y="5669280"/>
            <a:ext cx="5394960" cy="777240"/>
          </a:xfrm>
          <a:prstGeom prst="roundRect">
            <a:avLst>
              <a:gd name="adj" fmla="val 10588"/>
            </a:avLst>
          </a:prstGeom>
          <a:solidFill>
            <a:srgbClr val="F2F8F8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914400" y="5824728"/>
            <a:ext cx="457200" cy="457200"/>
          </a:xfrm>
          <a:prstGeom prst="ellipse">
            <a:avLst/>
          </a:prstGeom>
          <a:solidFill>
            <a:srgbClr val="C2185B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30" name="Image 4" descr="/home/claude/deck/icons/venus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128" y="5934456"/>
            <a:ext cx="237744" cy="237744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508760" y="57790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</a:t>
            </a:r>
            <a:endParaRPr lang="en-US" sz="1100" dirty="0"/>
          </a:p>
        </p:txBody>
      </p:sp>
      <p:sp>
        <p:nvSpPr>
          <p:cNvPr id="32" name="Text 23"/>
          <p:cNvSpPr/>
          <p:nvPr/>
        </p:nvSpPr>
        <p:spPr>
          <a:xfrm>
            <a:off x="1508760" y="60167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2,506 (50.1%)</a:t>
            </a:r>
            <a:endParaRPr lang="en-US" sz="1000" dirty="0"/>
          </a:p>
        </p:txBody>
      </p:sp>
      <p:sp>
        <p:nvSpPr>
          <p:cNvPr id="33" name="Shape 24"/>
          <p:cNvSpPr/>
          <p:nvPr/>
        </p:nvSpPr>
        <p:spPr>
          <a:xfrm>
            <a:off x="3429000" y="5824728"/>
            <a:ext cx="457200" cy="457200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34" name="Image 5" descr="/home/claude/deck/icons/mars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38728" y="5934456"/>
            <a:ext cx="237744" cy="237744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4023360" y="57790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</a:t>
            </a:r>
            <a:endParaRPr lang="en-US" sz="1100" dirty="0"/>
          </a:p>
        </p:txBody>
      </p:sp>
      <p:sp>
        <p:nvSpPr>
          <p:cNvPr id="36" name="Text 26"/>
          <p:cNvSpPr/>
          <p:nvPr/>
        </p:nvSpPr>
        <p:spPr>
          <a:xfrm>
            <a:off x="4023360" y="60167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2,494 (49.9%)</a:t>
            </a:r>
            <a:endParaRPr lang="en-US" sz="1000" dirty="0"/>
          </a:p>
        </p:txBody>
      </p:sp>
      <p:sp>
        <p:nvSpPr>
          <p:cNvPr id="37" name="Shape 27"/>
          <p:cNvSpPr/>
          <p:nvPr/>
        </p:nvSpPr>
        <p:spPr>
          <a:xfrm>
            <a:off x="6217920" y="5669280"/>
            <a:ext cx="5394960" cy="777240"/>
          </a:xfrm>
          <a:prstGeom prst="roundRect">
            <a:avLst>
              <a:gd name="adj" fmla="val 10588"/>
            </a:avLst>
          </a:prstGeom>
          <a:solidFill>
            <a:srgbClr val="F2F8F8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38" name="Shape 28"/>
          <p:cNvSpPr/>
          <p:nvPr/>
        </p:nvSpPr>
        <p:spPr>
          <a:xfrm>
            <a:off x="6583680" y="5824728"/>
            <a:ext cx="457200" cy="457200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39" name="Image 6" descr="/home/claude/deck/icons/clipboard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93408" y="5934456"/>
            <a:ext cx="237744" cy="237744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7178040" y="5760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Status</a:t>
            </a:r>
            <a:endParaRPr lang="en-US" sz="1100" dirty="0"/>
          </a:p>
        </p:txBody>
      </p:sp>
      <p:sp>
        <p:nvSpPr>
          <p:cNvPr id="41" name="Text 30"/>
          <p:cNvSpPr/>
          <p:nvPr/>
        </p:nvSpPr>
        <p:spPr>
          <a:xfrm>
            <a:off x="7178040" y="60167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Pending: 3,965   ·   Paid: 1,035</a:t>
            </a:r>
            <a:endParaRPr lang="en-US" sz="1000" dirty="0"/>
          </a:p>
        </p:txBody>
      </p:sp>
      <p:sp>
        <p:nvSpPr>
          <p:cNvPr id="42" name="Text 31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 |  Medical Operations Intelligence Dashboard  |  Milestone 1 Review</a:t>
            </a:r>
            <a:endParaRPr lang="en-US" sz="900" dirty="0"/>
          </a:p>
        </p:txBody>
      </p:sp>
      <p:sp>
        <p:nvSpPr>
          <p:cNvPr id="43" name="Text 3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Solutions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309360" y="10515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44752"/>
            <a:ext cx="5120640" cy="969264"/>
          </a:xfrm>
          <a:prstGeom prst="roundRect">
            <a:avLst>
              <a:gd name="adj" fmla="val 8491"/>
            </a:avLst>
          </a:prstGeom>
          <a:solidFill>
            <a:srgbClr val="FDF1EF"/>
          </a:solidFill>
          <a:ln w="12700">
            <a:solidFill>
              <a:srgbClr val="F1C9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700784"/>
            <a:ext cx="457200" cy="457200"/>
          </a:xfrm>
          <a:prstGeom prst="ellipse">
            <a:avLst/>
          </a:prstGeom>
          <a:solidFill>
            <a:srgbClr val="D9534F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7" name="Image 0" descr="/home/claude/deck/icons/warn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1810512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517904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Maintaining realistic healthcare relationships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09360" y="1444752"/>
            <a:ext cx="5120640" cy="969264"/>
          </a:xfrm>
          <a:prstGeom prst="roundRect">
            <a:avLst>
              <a:gd name="adj" fmla="val 8491"/>
            </a:avLst>
          </a:prstGeom>
          <a:solidFill>
            <a:srgbClr val="F2F8F8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75120" y="1700784"/>
            <a:ext cx="457200" cy="457200"/>
          </a:xfrm>
          <a:prstGeom prst="ellipse">
            <a:avLst/>
          </a:prstGeom>
          <a:solidFill>
            <a:srgbClr val="02C39A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11" name="Image 1" descr="/home/claude/deck/icons/lightbul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1810512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517904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business rule verification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715000" y="1856232"/>
            <a:ext cx="548640" cy="146304"/>
          </a:xfrm>
          <a:prstGeom prst="rightArrow">
            <a:avLst/>
          </a:prstGeom>
          <a:solidFill>
            <a:srgbClr val="028090"/>
          </a:solidFill>
          <a:ln/>
        </p:spPr>
      </p:sp>
      <p:sp>
        <p:nvSpPr>
          <p:cNvPr id="14" name="Shape 10"/>
          <p:cNvSpPr/>
          <p:nvPr/>
        </p:nvSpPr>
        <p:spPr>
          <a:xfrm>
            <a:off x="548640" y="2578608"/>
            <a:ext cx="5120640" cy="969264"/>
          </a:xfrm>
          <a:prstGeom prst="roundRect">
            <a:avLst>
              <a:gd name="adj" fmla="val 8491"/>
            </a:avLst>
          </a:prstGeom>
          <a:solidFill>
            <a:srgbClr val="FDF1EF"/>
          </a:solidFill>
          <a:ln w="12700">
            <a:solidFill>
              <a:srgbClr val="F1C9C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14400" y="2834640"/>
            <a:ext cx="457200" cy="457200"/>
          </a:xfrm>
          <a:prstGeom prst="ellipse">
            <a:avLst/>
          </a:prstGeom>
          <a:solidFill>
            <a:srgbClr val="D9534F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16" name="Image 2" descr="/home/claude/deck/icons/warn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94436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265176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&amp; inconsistent records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309360" y="2578608"/>
            <a:ext cx="5120640" cy="969264"/>
          </a:xfrm>
          <a:prstGeom prst="roundRect">
            <a:avLst>
              <a:gd name="adj" fmla="val 8491"/>
            </a:avLst>
          </a:prstGeom>
          <a:solidFill>
            <a:srgbClr val="F2F8F8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675120" y="2834640"/>
            <a:ext cx="457200" cy="457200"/>
          </a:xfrm>
          <a:prstGeom prst="ellipse">
            <a:avLst/>
          </a:prstGeom>
          <a:solidFill>
            <a:srgbClr val="02C39A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20" name="Image 3" descr="/home/claude/deck/icons/lightbul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944368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269480" y="265176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unique IDs and validation checks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5715000" y="2990088"/>
            <a:ext cx="548640" cy="146304"/>
          </a:xfrm>
          <a:prstGeom prst="rightArrow">
            <a:avLst/>
          </a:prstGeom>
          <a:solidFill>
            <a:srgbClr val="028090"/>
          </a:solidFill>
          <a:ln/>
        </p:spPr>
      </p:sp>
      <p:sp>
        <p:nvSpPr>
          <p:cNvPr id="23" name="Shape 17"/>
          <p:cNvSpPr/>
          <p:nvPr/>
        </p:nvSpPr>
        <p:spPr>
          <a:xfrm>
            <a:off x="548640" y="3712464"/>
            <a:ext cx="5120640" cy="969264"/>
          </a:xfrm>
          <a:prstGeom prst="roundRect">
            <a:avLst>
              <a:gd name="adj" fmla="val 8491"/>
            </a:avLst>
          </a:prstGeom>
          <a:solidFill>
            <a:srgbClr val="FDF1EF"/>
          </a:solidFill>
          <a:ln w="12700">
            <a:solidFill>
              <a:srgbClr val="F1C9C2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914400" y="3968496"/>
            <a:ext cx="457200" cy="457200"/>
          </a:xfrm>
          <a:prstGeom prst="ellipse">
            <a:avLst/>
          </a:prstGeom>
          <a:solidFill>
            <a:srgbClr val="D9534F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25" name="Image 4" descr="/home/claude/deck/icons/warn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4078224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508760" y="3785616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multiple datasets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6309360" y="3712464"/>
            <a:ext cx="5120640" cy="969264"/>
          </a:xfrm>
          <a:prstGeom prst="roundRect">
            <a:avLst>
              <a:gd name="adj" fmla="val 8491"/>
            </a:avLst>
          </a:prstGeom>
          <a:solidFill>
            <a:srgbClr val="F2F8F8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6675120" y="3968496"/>
            <a:ext cx="457200" cy="457200"/>
          </a:xfrm>
          <a:prstGeom prst="ellipse">
            <a:avLst/>
          </a:prstGeom>
          <a:solidFill>
            <a:srgbClr val="02C39A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29" name="Image 5" descr="/home/claude/deck/icons/lightbul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4078224"/>
            <a:ext cx="237744" cy="237744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269480" y="3785616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common keys and Pandas merge</a:t>
            </a:r>
            <a:endParaRPr lang="en-US" sz="1200" dirty="0"/>
          </a:p>
        </p:txBody>
      </p:sp>
      <p:sp>
        <p:nvSpPr>
          <p:cNvPr id="31" name="Shape 23"/>
          <p:cNvSpPr/>
          <p:nvPr/>
        </p:nvSpPr>
        <p:spPr>
          <a:xfrm>
            <a:off x="5715000" y="4123944"/>
            <a:ext cx="548640" cy="146304"/>
          </a:xfrm>
          <a:prstGeom prst="rightArrow">
            <a:avLst/>
          </a:prstGeom>
          <a:solidFill>
            <a:srgbClr val="028090"/>
          </a:solidFill>
          <a:ln/>
        </p:spPr>
      </p:sp>
      <p:sp>
        <p:nvSpPr>
          <p:cNvPr id="32" name="Shape 24"/>
          <p:cNvSpPr/>
          <p:nvPr/>
        </p:nvSpPr>
        <p:spPr>
          <a:xfrm>
            <a:off x="548640" y="4846320"/>
            <a:ext cx="5120640" cy="969264"/>
          </a:xfrm>
          <a:prstGeom prst="roundRect">
            <a:avLst>
              <a:gd name="adj" fmla="val 8491"/>
            </a:avLst>
          </a:prstGeom>
          <a:solidFill>
            <a:srgbClr val="FDF1EF"/>
          </a:solidFill>
          <a:ln w="12700">
            <a:solidFill>
              <a:srgbClr val="F1C9C2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914400" y="5102352"/>
            <a:ext cx="457200" cy="457200"/>
          </a:xfrm>
          <a:prstGeom prst="ellipse">
            <a:avLst/>
          </a:prstGeom>
          <a:solidFill>
            <a:srgbClr val="D9534F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34" name="Image 6" descr="/home/claude/deck/icons/warn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5212080"/>
            <a:ext cx="237744" cy="237744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1508760" y="491947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realistic healthcare data</a:t>
            </a:r>
            <a:endParaRPr lang="en-US" sz="1200" dirty="0"/>
          </a:p>
        </p:txBody>
      </p:sp>
      <p:sp>
        <p:nvSpPr>
          <p:cNvPr id="36" name="Shape 27"/>
          <p:cNvSpPr/>
          <p:nvPr/>
        </p:nvSpPr>
        <p:spPr>
          <a:xfrm>
            <a:off x="6309360" y="4846320"/>
            <a:ext cx="5120640" cy="969264"/>
          </a:xfrm>
          <a:prstGeom prst="roundRect">
            <a:avLst>
              <a:gd name="adj" fmla="val 8491"/>
            </a:avLst>
          </a:prstGeom>
          <a:solidFill>
            <a:srgbClr val="F2F8F8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37" name="Shape 28"/>
          <p:cNvSpPr/>
          <p:nvPr/>
        </p:nvSpPr>
        <p:spPr>
          <a:xfrm>
            <a:off x="6675120" y="5102352"/>
            <a:ext cx="457200" cy="457200"/>
          </a:xfrm>
          <a:prstGeom prst="ellipse">
            <a:avLst/>
          </a:prstGeom>
          <a:solidFill>
            <a:srgbClr val="02C39A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38" name="Image 7" descr="/home/claude/deck/icons/lightbul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5212080"/>
            <a:ext cx="237744" cy="237744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7269480" y="4919472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Faker with logical randomization</a:t>
            </a:r>
            <a:endParaRPr lang="en-US" sz="1200" dirty="0"/>
          </a:p>
        </p:txBody>
      </p:sp>
      <p:sp>
        <p:nvSpPr>
          <p:cNvPr id="40" name="Shape 30"/>
          <p:cNvSpPr/>
          <p:nvPr/>
        </p:nvSpPr>
        <p:spPr>
          <a:xfrm>
            <a:off x="5715000" y="5257800"/>
            <a:ext cx="548640" cy="146304"/>
          </a:xfrm>
          <a:prstGeom prst="rightArrow">
            <a:avLst/>
          </a:prstGeom>
          <a:solidFill>
            <a:srgbClr val="028090"/>
          </a:solidFill>
          <a:ln/>
        </p:spPr>
      </p:sp>
      <p:sp>
        <p:nvSpPr>
          <p:cNvPr id="41" name="Text 31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 |  Medical Operations Intelligence Dashboard  |  Milestone 1 Review</a:t>
            </a:r>
            <a:endParaRPr lang="en-US" sz="900" dirty="0"/>
          </a:p>
        </p:txBody>
      </p:sp>
      <p:sp>
        <p:nvSpPr>
          <p:cNvPr id="42" name="Text 3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Learnings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F2F8F8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62763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LEARNED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14984" y="2057400"/>
            <a:ext cx="438912" cy="438912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6" name="Image 0" descr="/home/claude/deck/icons/pytho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323" y="2162739"/>
            <a:ext cx="228234" cy="2282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27632" y="205740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Data Processing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1014984" y="2660904"/>
            <a:ext cx="438912" cy="438912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9" name="Image 1" descr="/home/claude/deck/icons/tabl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323" y="2766243"/>
            <a:ext cx="228234" cy="22823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27632" y="2660904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Data Manipulation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1014984" y="3264408"/>
            <a:ext cx="438912" cy="438912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12" name="Image 2" descr="/home/claude/deck/icons/usersecre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323" y="3369747"/>
            <a:ext cx="228234" cy="22823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27632" y="3264408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Generation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1014984" y="3867912"/>
            <a:ext cx="438912" cy="438912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15" name="Image 3" descr="/home/claude/deck/icons/chec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0323" y="3973251"/>
            <a:ext cx="228234" cy="22823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627632" y="3867912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</a:t>
            </a:r>
            <a:endParaRPr lang="en-US" sz="1350" dirty="0"/>
          </a:p>
        </p:txBody>
      </p:sp>
      <p:sp>
        <p:nvSpPr>
          <p:cNvPr id="17" name="Shape 11"/>
          <p:cNvSpPr/>
          <p:nvPr/>
        </p:nvSpPr>
        <p:spPr>
          <a:xfrm>
            <a:off x="1014984" y="4471416"/>
            <a:ext cx="438912" cy="438912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18" name="Image 4" descr="/home/claude/deck/icons/link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0323" y="4576755"/>
            <a:ext cx="228234" cy="22823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627632" y="4471416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Integration</a:t>
            </a:r>
            <a:endParaRPr lang="en-US" sz="1350" dirty="0"/>
          </a:p>
        </p:txBody>
      </p:sp>
      <p:sp>
        <p:nvSpPr>
          <p:cNvPr id="20" name="Shape 13"/>
          <p:cNvSpPr/>
          <p:nvPr/>
        </p:nvSpPr>
        <p:spPr>
          <a:xfrm>
            <a:off x="1014984" y="5074920"/>
            <a:ext cx="438912" cy="438912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21" name="Image 5" descr="/home/claude/deck/icons/github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0323" y="5180259"/>
            <a:ext cx="228234" cy="228234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627632" y="507492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Collaboration</a:t>
            </a:r>
            <a:endParaRPr lang="en-US" sz="1350" dirty="0"/>
          </a:p>
        </p:txBody>
      </p:sp>
      <p:sp>
        <p:nvSpPr>
          <p:cNvPr id="23" name="Shape 15"/>
          <p:cNvSpPr/>
          <p:nvPr/>
        </p:nvSpPr>
        <p:spPr>
          <a:xfrm>
            <a:off x="6217920" y="141732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21295C"/>
          </a:solidFill>
          <a:ln/>
        </p:spPr>
      </p:sp>
      <p:sp>
        <p:nvSpPr>
          <p:cNvPr id="24" name="Text 16"/>
          <p:cNvSpPr/>
          <p:nvPr/>
        </p:nvSpPr>
        <p:spPr>
          <a:xfrm>
            <a:off x="6537960" y="162763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HELPS THE NEXT MILESTONE</a:t>
            </a:r>
            <a:endParaRPr lang="en-US" sz="1250" dirty="0"/>
          </a:p>
        </p:txBody>
      </p:sp>
      <p:sp>
        <p:nvSpPr>
          <p:cNvPr id="25" name="Shape 17"/>
          <p:cNvSpPr/>
          <p:nvPr/>
        </p:nvSpPr>
        <p:spPr>
          <a:xfrm>
            <a:off x="6693408" y="2148840"/>
            <a:ext cx="512064" cy="512064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26" name="Image 6" descr="/home/claude/deck/icons/dashboard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16303" y="2271735"/>
            <a:ext cx="266273" cy="266273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7406640" y="2148840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Creation</a:t>
            </a:r>
            <a:endParaRPr lang="en-US" sz="1450" dirty="0"/>
          </a:p>
        </p:txBody>
      </p:sp>
      <p:sp>
        <p:nvSpPr>
          <p:cNvPr id="28" name="Shape 19"/>
          <p:cNvSpPr/>
          <p:nvPr/>
        </p:nvSpPr>
        <p:spPr>
          <a:xfrm>
            <a:off x="6693408" y="2926080"/>
            <a:ext cx="512064" cy="512064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29" name="Image 7" descr="/home/claude/deck/icons/chartbar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16303" y="3048975"/>
            <a:ext cx="266273" cy="266273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7406640" y="2926080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Calculation</a:t>
            </a:r>
            <a:endParaRPr lang="en-US" sz="1450" dirty="0"/>
          </a:p>
        </p:txBody>
      </p:sp>
      <p:sp>
        <p:nvSpPr>
          <p:cNvPr id="31" name="Shape 21"/>
          <p:cNvSpPr/>
          <p:nvPr/>
        </p:nvSpPr>
        <p:spPr>
          <a:xfrm>
            <a:off x="6693408" y="3703320"/>
            <a:ext cx="512064" cy="512064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32" name="Image 8" descr="/home/claude/deck/icons/route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16303" y="3826215"/>
            <a:ext cx="266273" cy="266273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7406640" y="3703320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1450" dirty="0"/>
          </a:p>
        </p:txBody>
      </p:sp>
      <p:sp>
        <p:nvSpPr>
          <p:cNvPr id="34" name="Shape 23"/>
          <p:cNvSpPr/>
          <p:nvPr/>
        </p:nvSpPr>
        <p:spPr>
          <a:xfrm>
            <a:off x="6693408" y="4480560"/>
            <a:ext cx="512064" cy="512064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35" name="Image 9" descr="/home/claude/deck/icons/rocket_whit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16303" y="4603455"/>
            <a:ext cx="266273" cy="266273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7406640" y="4480560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Analytics</a:t>
            </a:r>
            <a:endParaRPr lang="en-US" sz="1450" dirty="0"/>
          </a:p>
        </p:txBody>
      </p:sp>
      <p:sp>
        <p:nvSpPr>
          <p:cNvPr id="37" name="Shape 25"/>
          <p:cNvSpPr/>
          <p:nvPr/>
        </p:nvSpPr>
        <p:spPr>
          <a:xfrm>
            <a:off x="5806440" y="3566160"/>
            <a:ext cx="502920" cy="256032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38" name="Text 26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 |  Medical Operations Intelligence Dashboard  |  Milestone 1 Review</a:t>
            </a:r>
            <a:endParaRPr lang="en-US" sz="900" dirty="0"/>
          </a:p>
        </p:txBody>
      </p:sp>
      <p:sp>
        <p:nvSpPr>
          <p:cNvPr id="3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Collaboration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DISTRIBUTION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F2F8F8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" y="1591056"/>
            <a:ext cx="402336" cy="402336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6" name="Image 0" descr="/home/claude/deck/icons/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393" y="1687617"/>
            <a:ext cx="209215" cy="20921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46304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Creation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240280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F2F8F8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41832" y="2368296"/>
            <a:ext cx="402336" cy="402336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10" name="Image 1" descr="/home/claude/deck/icons/broom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393" y="2464857"/>
            <a:ext cx="209215" cy="20921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224028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3017520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F2F8F8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941832" y="3145536"/>
            <a:ext cx="402336" cy="402336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14" name="Image 2" descr="/home/claude/deck/icons/lin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93" y="3242097"/>
            <a:ext cx="209215" cy="20921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301752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Integration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F2F8F8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941832" y="3922776"/>
            <a:ext cx="402336" cy="402336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18" name="Image 3" descr="/home/claude/deck/icons/clipboar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8393" y="4019337"/>
            <a:ext cx="209215" cy="20921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08760" y="379476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548640" y="4572000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F2F8F8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941832" y="4700016"/>
            <a:ext cx="402336" cy="402336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22" name="Image 4" descr="/home/claude/deck/icons/github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8393" y="4796577"/>
            <a:ext cx="209215" cy="20921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508760" y="457200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Management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548640" y="54864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PRACTICES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548640" y="5806440"/>
            <a:ext cx="738835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548640" y="5806440"/>
            <a:ext cx="7388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1415491" y="5806440"/>
            <a:ext cx="2187245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1415491" y="5806440"/>
            <a:ext cx="218724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Branch-based Development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3730752" y="5806440"/>
            <a:ext cx="130210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3730752" y="5806440"/>
            <a:ext cx="13021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548640" y="6190488"/>
            <a:ext cx="170444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548640" y="6190488"/>
            <a:ext cx="170444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Collaboration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6217920" y="1051560"/>
            <a:ext cx="5394960" cy="5349240"/>
          </a:xfrm>
          <a:prstGeom prst="roundRect">
            <a:avLst>
              <a:gd name="adj" fmla="val 1709"/>
            </a:avLst>
          </a:prstGeom>
          <a:solidFill>
            <a:srgbClr val="21295C"/>
          </a:solidFill>
          <a:ln/>
        </p:spPr>
      </p:sp>
      <p:sp>
        <p:nvSpPr>
          <p:cNvPr id="34" name="Text 27"/>
          <p:cNvSpPr/>
          <p:nvPr/>
        </p:nvSpPr>
        <p:spPr>
          <a:xfrm>
            <a:off x="6537960" y="123444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WORKFLOW</a:t>
            </a:r>
            <a:endParaRPr lang="en-US" sz="1250" dirty="0"/>
          </a:p>
        </p:txBody>
      </p:sp>
      <p:sp>
        <p:nvSpPr>
          <p:cNvPr id="35" name="Shape 28"/>
          <p:cNvSpPr/>
          <p:nvPr/>
        </p:nvSpPr>
        <p:spPr>
          <a:xfrm>
            <a:off x="7077456" y="1700784"/>
            <a:ext cx="566928" cy="566928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36" name="Image 5" descr="/home/claude/deck/icons/codebranch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13519" y="1836847"/>
            <a:ext cx="294803" cy="294803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7818120" y="1691640"/>
            <a:ext cx="3566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Branch</a:t>
            </a:r>
            <a:endParaRPr lang="en-US" sz="1400" dirty="0"/>
          </a:p>
        </p:txBody>
      </p:sp>
      <p:sp>
        <p:nvSpPr>
          <p:cNvPr id="38" name="Shape 30"/>
          <p:cNvSpPr/>
          <p:nvPr/>
        </p:nvSpPr>
        <p:spPr>
          <a:xfrm>
            <a:off x="7360920" y="2313432"/>
            <a:ext cx="0" cy="237744"/>
          </a:xfrm>
          <a:prstGeom prst="line">
            <a:avLst/>
          </a:prstGeom>
          <a:noFill/>
          <a:ln w="25400">
            <a:solidFill>
              <a:srgbClr val="00A896"/>
            </a:solidFill>
            <a:prstDash val="dash"/>
          </a:ln>
        </p:spPr>
      </p:sp>
      <p:sp>
        <p:nvSpPr>
          <p:cNvPr id="39" name="Shape 31"/>
          <p:cNvSpPr/>
          <p:nvPr/>
        </p:nvSpPr>
        <p:spPr>
          <a:xfrm>
            <a:off x="7077456" y="2560320"/>
            <a:ext cx="566928" cy="566928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40" name="Image 6" descr="/home/claude/deck/icons/laptopcode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13519" y="2696383"/>
            <a:ext cx="294803" cy="294803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7818120" y="2551176"/>
            <a:ext cx="3566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400" dirty="0"/>
          </a:p>
        </p:txBody>
      </p:sp>
      <p:sp>
        <p:nvSpPr>
          <p:cNvPr id="42" name="Shape 33"/>
          <p:cNvSpPr/>
          <p:nvPr/>
        </p:nvSpPr>
        <p:spPr>
          <a:xfrm>
            <a:off x="7360920" y="3172968"/>
            <a:ext cx="0" cy="237744"/>
          </a:xfrm>
          <a:prstGeom prst="line">
            <a:avLst/>
          </a:prstGeom>
          <a:noFill/>
          <a:ln w="25400">
            <a:solidFill>
              <a:srgbClr val="00A896"/>
            </a:solidFill>
            <a:prstDash val="dash"/>
          </a:ln>
        </p:spPr>
      </p:sp>
      <p:sp>
        <p:nvSpPr>
          <p:cNvPr id="43" name="Shape 34"/>
          <p:cNvSpPr/>
          <p:nvPr/>
        </p:nvSpPr>
        <p:spPr>
          <a:xfrm>
            <a:off x="7077456" y="3419856"/>
            <a:ext cx="566928" cy="566928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44" name="Image 7" descr="/home/claude/deck/icons/route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13519" y="3555919"/>
            <a:ext cx="294803" cy="294803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7818120" y="3410712"/>
            <a:ext cx="3566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</a:t>
            </a:r>
            <a:endParaRPr lang="en-US" sz="1400" dirty="0"/>
          </a:p>
        </p:txBody>
      </p:sp>
      <p:sp>
        <p:nvSpPr>
          <p:cNvPr id="46" name="Shape 36"/>
          <p:cNvSpPr/>
          <p:nvPr/>
        </p:nvSpPr>
        <p:spPr>
          <a:xfrm>
            <a:off x="7360920" y="4032504"/>
            <a:ext cx="0" cy="237744"/>
          </a:xfrm>
          <a:prstGeom prst="line">
            <a:avLst/>
          </a:prstGeom>
          <a:noFill/>
          <a:ln w="25400">
            <a:solidFill>
              <a:srgbClr val="00A896"/>
            </a:solidFill>
            <a:prstDash val="dash"/>
          </a:ln>
        </p:spPr>
      </p:sp>
      <p:sp>
        <p:nvSpPr>
          <p:cNvPr id="47" name="Shape 37"/>
          <p:cNvSpPr/>
          <p:nvPr/>
        </p:nvSpPr>
        <p:spPr>
          <a:xfrm>
            <a:off x="7077456" y="4279392"/>
            <a:ext cx="566928" cy="566928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48" name="Image 8" descr="/home/claude/deck/icons/eye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13519" y="4415455"/>
            <a:ext cx="294803" cy="294803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7818120" y="4270248"/>
            <a:ext cx="3566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400" dirty="0"/>
          </a:p>
        </p:txBody>
      </p:sp>
      <p:sp>
        <p:nvSpPr>
          <p:cNvPr id="50" name="Shape 39"/>
          <p:cNvSpPr/>
          <p:nvPr/>
        </p:nvSpPr>
        <p:spPr>
          <a:xfrm>
            <a:off x="7360920" y="4892040"/>
            <a:ext cx="0" cy="237744"/>
          </a:xfrm>
          <a:prstGeom prst="line">
            <a:avLst/>
          </a:prstGeom>
          <a:noFill/>
          <a:ln w="25400">
            <a:solidFill>
              <a:srgbClr val="00A896"/>
            </a:solidFill>
            <a:prstDash val="dash"/>
          </a:ln>
        </p:spPr>
      </p:sp>
      <p:sp>
        <p:nvSpPr>
          <p:cNvPr id="51" name="Shape 40"/>
          <p:cNvSpPr/>
          <p:nvPr/>
        </p:nvSpPr>
        <p:spPr>
          <a:xfrm>
            <a:off x="7077456" y="5138928"/>
            <a:ext cx="566928" cy="566928"/>
          </a:xfrm>
          <a:prstGeom prst="ellipse">
            <a:avLst/>
          </a:prstGeom>
          <a:solidFill>
            <a:srgbClr val="02C39A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52" name="Image 9" descr="/home/claude/deck/icons/check_whit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13519" y="5274991"/>
            <a:ext cx="294803" cy="294803"/>
          </a:xfrm>
          <a:prstGeom prst="rect">
            <a:avLst/>
          </a:prstGeom>
        </p:spPr>
      </p:pic>
      <p:sp>
        <p:nvSpPr>
          <p:cNvPr id="53" name="Text 41"/>
          <p:cNvSpPr/>
          <p:nvPr/>
        </p:nvSpPr>
        <p:spPr>
          <a:xfrm>
            <a:off x="7818120" y="5129784"/>
            <a:ext cx="3566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400" dirty="0"/>
          </a:p>
        </p:txBody>
      </p:sp>
      <p:sp>
        <p:nvSpPr>
          <p:cNvPr id="54" name="Text 4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 |  Medical Operations Intelligence Dashboard  |  Milestone 1 Review</a:t>
            </a:r>
            <a:endParaRPr lang="en-US" sz="900" dirty="0"/>
          </a:p>
        </p:txBody>
      </p:sp>
      <p:sp>
        <p:nvSpPr>
          <p:cNvPr id="55" name="Text 4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206240"/>
            <a:ext cx="4023360" cy="4023360"/>
          </a:xfrm>
          <a:prstGeom prst="ellipse">
            <a:avLst/>
          </a:prstGeom>
          <a:solidFill>
            <a:srgbClr val="028090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463040"/>
            <a:ext cx="3291840" cy="3291840"/>
          </a:xfrm>
          <a:prstGeom prst="ellipse">
            <a:avLst/>
          </a:prstGeom>
          <a:solidFill>
            <a:srgbClr val="02C39A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— COMPLETED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49808" y="1536192"/>
            <a:ext cx="329184" cy="329184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7" name="Image 0" descr="/home/claude/deck/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812" y="1615196"/>
            <a:ext cx="171176" cy="1711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07008" y="153619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collected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49808" y="2011680"/>
            <a:ext cx="329184" cy="329184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10" name="Image 1" descr="/home/claude/deck/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812" y="2090684"/>
            <a:ext cx="171176" cy="1711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07008" y="2011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cleaned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49808" y="2487168"/>
            <a:ext cx="329184" cy="329184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13" name="Image 2" descr="/home/claude/deck/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812" y="2566172"/>
            <a:ext cx="171176" cy="17117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07008" y="248716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standardized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749808" y="2962656"/>
            <a:ext cx="329184" cy="329184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16" name="Image 3" descr="/home/claude/deck/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812" y="3041660"/>
            <a:ext cx="171176" cy="17117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07008" y="296265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tables integrated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749808" y="3438144"/>
            <a:ext cx="329184" cy="329184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19" name="Image 4" descr="/home/claude/deck/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812" y="3517148"/>
            <a:ext cx="171176" cy="17117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207008" y="343814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validation completed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749808" y="3913632"/>
            <a:ext cx="329184" cy="329184"/>
          </a:xfrm>
          <a:prstGeom prst="ellipse">
            <a:avLst/>
          </a:prstGeom>
          <a:solidFill>
            <a:srgbClr val="00A896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22" name="Image 5" descr="/home/claude/deck/icons/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812" y="3992636"/>
            <a:ext cx="171176" cy="171176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207008" y="391363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ready for analytics</a:t>
            </a:r>
            <a:endParaRPr lang="en-US" sz="1300" dirty="0"/>
          </a:p>
        </p:txBody>
      </p:sp>
      <p:sp>
        <p:nvSpPr>
          <p:cNvPr id="24" name="Shape 16"/>
          <p:cNvSpPr/>
          <p:nvPr/>
        </p:nvSpPr>
        <p:spPr>
          <a:xfrm>
            <a:off x="6309360" y="1143000"/>
            <a:ext cx="5349240" cy="3566160"/>
          </a:xfrm>
          <a:prstGeom prst="roundRect">
            <a:avLst>
              <a:gd name="adj" fmla="val 2564"/>
            </a:avLst>
          </a:prstGeom>
          <a:solidFill>
            <a:srgbClr val="142046"/>
          </a:solidFill>
          <a:ln w="12700">
            <a:solidFill>
              <a:srgbClr val="324077"/>
            </a:solidFill>
            <a:prstDash val="solid"/>
          </a:ln>
        </p:spPr>
      </p:sp>
      <p:sp>
        <p:nvSpPr>
          <p:cNvPr id="25" name="Text 17"/>
          <p:cNvSpPr/>
          <p:nvPr/>
        </p:nvSpPr>
        <p:spPr>
          <a:xfrm>
            <a:off x="6583680" y="132588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MILESTONE</a:t>
            </a:r>
            <a:endParaRPr lang="en-US" sz="1250" dirty="0"/>
          </a:p>
        </p:txBody>
      </p:sp>
      <p:sp>
        <p:nvSpPr>
          <p:cNvPr id="26" name="Shape 18"/>
          <p:cNvSpPr/>
          <p:nvPr/>
        </p:nvSpPr>
        <p:spPr>
          <a:xfrm>
            <a:off x="6858000" y="1792224"/>
            <a:ext cx="457200" cy="457200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27" name="Image 6" descr="/home/claude/deck/icons/rout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728" y="1901952"/>
            <a:ext cx="237744" cy="237744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7498080" y="178308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Flow Analysis</a:t>
            </a:r>
            <a:endParaRPr lang="en-US" sz="1300" dirty="0"/>
          </a:p>
        </p:txBody>
      </p:sp>
      <p:sp>
        <p:nvSpPr>
          <p:cNvPr id="29" name="Shape 20"/>
          <p:cNvSpPr/>
          <p:nvPr/>
        </p:nvSpPr>
        <p:spPr>
          <a:xfrm>
            <a:off x="6858000" y="2414016"/>
            <a:ext cx="457200" cy="457200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30" name="Image 7" descr="/home/claude/deck/icons/chartba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7728" y="2523744"/>
            <a:ext cx="237744" cy="237744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7498080" y="2404872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Demand Intelligence</a:t>
            </a:r>
            <a:endParaRPr lang="en-US" sz="1300" dirty="0"/>
          </a:p>
        </p:txBody>
      </p:sp>
      <p:sp>
        <p:nvSpPr>
          <p:cNvPr id="32" name="Shape 22"/>
          <p:cNvSpPr/>
          <p:nvPr/>
        </p:nvSpPr>
        <p:spPr>
          <a:xfrm>
            <a:off x="6858000" y="3035808"/>
            <a:ext cx="457200" cy="457200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33" name="Image 8" descr="/home/claude/deck/icons/dashboar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7728" y="3145536"/>
            <a:ext cx="237744" cy="237744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7498080" y="3026664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KPI Dashboards</a:t>
            </a:r>
            <a:endParaRPr lang="en-US" sz="1300" dirty="0"/>
          </a:p>
        </p:txBody>
      </p:sp>
      <p:sp>
        <p:nvSpPr>
          <p:cNvPr id="35" name="Shape 24"/>
          <p:cNvSpPr/>
          <p:nvPr/>
        </p:nvSpPr>
        <p:spPr>
          <a:xfrm>
            <a:off x="6858000" y="3657600"/>
            <a:ext cx="457200" cy="457200"/>
          </a:xfrm>
          <a:prstGeom prst="ellipse">
            <a:avLst/>
          </a:prstGeom>
          <a:solidFill>
            <a:srgbClr val="028090"/>
          </a:solidFill>
          <a:ln/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pic>
        <p:nvPicPr>
          <p:cNvPr id="36" name="Image 9" descr="/home/claude/deck/icons/rocke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67728" y="3767328"/>
            <a:ext cx="237744" cy="237744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7498080" y="3648456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Visualizations</a:t>
            </a:r>
            <a:endParaRPr lang="en-US" sz="1300" dirty="0"/>
          </a:p>
        </p:txBody>
      </p:sp>
      <p:sp>
        <p:nvSpPr>
          <p:cNvPr id="38" name="Shape 26"/>
          <p:cNvSpPr/>
          <p:nvPr/>
        </p:nvSpPr>
        <p:spPr>
          <a:xfrm>
            <a:off x="566928" y="4754880"/>
            <a:ext cx="5303520" cy="1417320"/>
          </a:xfrm>
          <a:prstGeom prst="roundRect">
            <a:avLst>
              <a:gd name="adj" fmla="val 6452"/>
            </a:avLst>
          </a:prstGeom>
          <a:solidFill>
            <a:srgbClr val="142046"/>
          </a:solidFill>
          <a:ln w="12700">
            <a:solidFill>
              <a:srgbClr val="324077"/>
            </a:solidFill>
            <a:prstDash val="solid"/>
          </a:ln>
        </p:spPr>
      </p:sp>
      <p:sp>
        <p:nvSpPr>
          <p:cNvPr id="39" name="Shape 27"/>
          <p:cNvSpPr/>
          <p:nvPr/>
        </p:nvSpPr>
        <p:spPr>
          <a:xfrm>
            <a:off x="868680" y="5532120"/>
            <a:ext cx="457200" cy="320040"/>
          </a:xfrm>
          <a:prstGeom prst="roundRect">
            <a:avLst>
              <a:gd name="adj" fmla="val 14286"/>
            </a:avLst>
          </a:prstGeom>
          <a:solidFill>
            <a:srgbClr val="00A896"/>
          </a:solidFill>
          <a:ln/>
        </p:spPr>
      </p:sp>
      <p:sp>
        <p:nvSpPr>
          <p:cNvPr id="40" name="Shape 28"/>
          <p:cNvSpPr/>
          <p:nvPr/>
        </p:nvSpPr>
        <p:spPr>
          <a:xfrm>
            <a:off x="1645920" y="5257800"/>
            <a:ext cx="457200" cy="594360"/>
          </a:xfrm>
          <a:prstGeom prst="roundRect">
            <a:avLst>
              <a:gd name="adj" fmla="val 10000"/>
            </a:avLst>
          </a:prstGeom>
          <a:solidFill>
            <a:srgbClr val="02C39A"/>
          </a:solidFill>
          <a:ln/>
        </p:spPr>
      </p:sp>
      <p:sp>
        <p:nvSpPr>
          <p:cNvPr id="41" name="Shape 29"/>
          <p:cNvSpPr/>
          <p:nvPr/>
        </p:nvSpPr>
        <p:spPr>
          <a:xfrm>
            <a:off x="2423160" y="539496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0A896"/>
          </a:solidFill>
          <a:ln/>
        </p:spPr>
      </p:sp>
      <p:sp>
        <p:nvSpPr>
          <p:cNvPr id="42" name="Shape 30"/>
          <p:cNvSpPr/>
          <p:nvPr/>
        </p:nvSpPr>
        <p:spPr>
          <a:xfrm>
            <a:off x="3200400" y="5074920"/>
            <a:ext cx="457200" cy="777240"/>
          </a:xfrm>
          <a:prstGeom prst="roundRect">
            <a:avLst>
              <a:gd name="adj" fmla="val 10000"/>
            </a:avLst>
          </a:prstGeom>
          <a:solidFill>
            <a:srgbClr val="02C39A"/>
          </a:solidFill>
          <a:ln/>
        </p:spPr>
      </p:sp>
      <p:sp>
        <p:nvSpPr>
          <p:cNvPr id="43" name="Shape 31"/>
          <p:cNvSpPr/>
          <p:nvPr/>
        </p:nvSpPr>
        <p:spPr>
          <a:xfrm>
            <a:off x="3977640" y="5303520"/>
            <a:ext cx="457200" cy="548640"/>
          </a:xfrm>
          <a:prstGeom prst="roundRect">
            <a:avLst>
              <a:gd name="adj" fmla="val 10000"/>
            </a:avLst>
          </a:prstGeom>
          <a:solidFill>
            <a:srgbClr val="00A896"/>
          </a:solidFill>
          <a:ln/>
        </p:spPr>
      </p:sp>
      <p:sp>
        <p:nvSpPr>
          <p:cNvPr id="44" name="Shape 32"/>
          <p:cNvSpPr/>
          <p:nvPr/>
        </p:nvSpPr>
        <p:spPr>
          <a:xfrm>
            <a:off x="4754880" y="4983480"/>
            <a:ext cx="457200" cy="868680"/>
          </a:xfrm>
          <a:prstGeom prst="roundRect">
            <a:avLst>
              <a:gd name="adj" fmla="val 10000"/>
            </a:avLst>
          </a:prstGeom>
          <a:solidFill>
            <a:srgbClr val="02C39A"/>
          </a:solidFill>
          <a:ln/>
        </p:spPr>
      </p:sp>
      <p:sp>
        <p:nvSpPr>
          <p:cNvPr id="45" name="Text 33"/>
          <p:cNvSpPr/>
          <p:nvPr/>
        </p:nvSpPr>
        <p:spPr>
          <a:xfrm>
            <a:off x="548640" y="587044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Ready for Analytics</a:t>
            </a:r>
            <a:endParaRPr lang="en-US" sz="1050" dirty="0"/>
          </a:p>
        </p:txBody>
      </p:sp>
      <p:sp>
        <p:nvSpPr>
          <p:cNvPr id="46" name="Shape 34"/>
          <p:cNvSpPr/>
          <p:nvPr/>
        </p:nvSpPr>
        <p:spPr>
          <a:xfrm>
            <a:off x="6309360" y="4892040"/>
            <a:ext cx="5349240" cy="1508760"/>
          </a:xfrm>
          <a:prstGeom prst="roundRect">
            <a:avLst>
              <a:gd name="adj" fmla="val 6061"/>
            </a:avLst>
          </a:prstGeom>
          <a:solidFill>
            <a:srgbClr val="028090"/>
          </a:solidFill>
          <a:ln/>
        </p:spPr>
      </p:sp>
      <p:sp>
        <p:nvSpPr>
          <p:cNvPr id="47" name="Text 35"/>
          <p:cNvSpPr/>
          <p:nvPr/>
        </p:nvSpPr>
        <p:spPr>
          <a:xfrm>
            <a:off x="6583680" y="5029200"/>
            <a:ext cx="4800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established a clean, reliable and analytics-ready healthcare dataset — the foundation for the Medical Operations Dashboard.</a:t>
            </a:r>
            <a:endParaRPr lang="en-US" sz="1250" dirty="0"/>
          </a:p>
        </p:txBody>
      </p:sp>
      <p:sp>
        <p:nvSpPr>
          <p:cNvPr id="48" name="Text 36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 |  Medical Operations Intelligence Dashboard  |  Milestone 1 Review</a:t>
            </a:r>
            <a:endParaRPr lang="en-US" sz="900" dirty="0"/>
          </a:p>
        </p:txBody>
      </p:sp>
      <p:sp>
        <p:nvSpPr>
          <p:cNvPr id="49" name="Text 3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549</Words>
  <Application>Microsoft Office PowerPoint</Application>
  <PresentationFormat>Widescreen</PresentationFormat>
  <Paragraphs>169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Devashri Pavle</cp:lastModifiedBy>
  <cp:revision>3</cp:revision>
  <dcterms:created xsi:type="dcterms:W3CDTF">2026-08-02T12:18:30Z</dcterms:created>
  <dcterms:modified xsi:type="dcterms:W3CDTF">2026-08-02T13:25:39Z</dcterms:modified>
</cp:coreProperties>
</file>