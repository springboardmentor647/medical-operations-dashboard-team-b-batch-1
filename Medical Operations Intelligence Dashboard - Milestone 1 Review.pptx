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08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147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4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image" Target="../media/image7.png"/><Relationship Id="rId4" Type="http://schemas.openxmlformats.org/officeDocument/2006/relationships/image" Target="../media/image17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206240"/>
            <a:ext cx="2926080" cy="292608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Operations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Dashboard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Review — Team Introduction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32520" y="640080"/>
            <a:ext cx="2834640" cy="1965960"/>
          </a:xfrm>
          <a:prstGeom prst="roundRect">
            <a:avLst>
              <a:gd name="adj" fmla="val 5581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06840" y="1874520"/>
            <a:ext cx="292608" cy="457200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0" y="1508760"/>
            <a:ext cx="292608" cy="8229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10012680" y="1737360"/>
            <a:ext cx="292608" cy="594360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0" y="1234440"/>
            <a:ext cx="292608" cy="109728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18520" y="1600200"/>
            <a:ext cx="292608" cy="731520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/>
        </p:spPr>
      </p:sp>
      <p:pic>
        <p:nvPicPr>
          <p:cNvPr id="13" name="Image 0" descr="/home/claude/deck/icons/dash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77724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732520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Ops Dashboard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058400" y="2926080"/>
            <a:ext cx="640080" cy="64008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1" descr="/home/claude/deck/icons/hospit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2019" y="3079699"/>
            <a:ext cx="332842" cy="33284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0080" y="306324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937260" y="3232404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9" name="Image 2" descr="/home/claude/deck/icons/idbad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61" y="3353105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182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Devashri Pavle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00200" y="34930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36208" y="306324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533388" y="3232404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4" name="Image 3" descr="/home/claude/deck/icons/idbad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089" y="3353105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96328" y="3182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Placeholder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196328" y="34930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0080" y="4105656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Shape 22"/>
          <p:cNvSpPr/>
          <p:nvPr/>
        </p:nvSpPr>
        <p:spPr>
          <a:xfrm>
            <a:off x="937260" y="4274820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9" name="Image 4" descr="/home/claude/deck/icons/idbad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61" y="4395521"/>
            <a:ext cx="261518" cy="26151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42245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Placeholder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1600200" y="45354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Integration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236208" y="4105656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6533388" y="4274820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4" name="Image 5" descr="/home/claude/deck/icons/idbad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089" y="4395521"/>
            <a:ext cx="261518" cy="26151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96328" y="42245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Placeholder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7196328" y="453542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QA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42046"/>
          </a:solidFill>
          <a:ln/>
        </p:spPr>
      </p:sp>
      <p:sp>
        <p:nvSpPr>
          <p:cNvPr id="38" name="Text 30"/>
          <p:cNvSpPr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focused on building the foundational healthcare dataset through data collection, preprocessing, integration and quality validation.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foundation for healthcare operations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" y="2066544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" name="Image 0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2141159"/>
            <a:ext cx="161666" cy="1616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57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healthcare operational datasets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87552" y="2578608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0" name="Image 1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2653223"/>
            <a:ext cx="161666" cy="1616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694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datasets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87552" y="3090672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3" name="Image 2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3165287"/>
            <a:ext cx="161666" cy="1616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081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healthcare data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87552" y="3602736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3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3677351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593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multiple healthcare tables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987552" y="4114800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9" name="Image 4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4189415"/>
            <a:ext cx="161666" cy="16166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41056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 for dashboard analytics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17920" y="146304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537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DELIVERABLES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665976" y="2112264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4" name="Image 5" descr="/home/claude/deck/icons/checkdou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148" y="2204436"/>
            <a:ext cx="199705" cy="19970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21031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6665976" y="2734056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7" name="Image 6" descr="/home/claude/deck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148" y="2826228"/>
            <a:ext cx="199705" cy="19970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223760" y="27249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Healthcare Database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6665976" y="3355848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0" name="Image 7" descr="/home/claude/deck/icons/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148" y="3448020"/>
            <a:ext cx="199705" cy="19970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223760" y="334670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KPI-Ready Data</a:t>
            </a:r>
            <a:endParaRPr lang="en-US" sz="1350" dirty="0"/>
          </a:p>
        </p:txBody>
      </p:sp>
      <p:sp>
        <p:nvSpPr>
          <p:cNvPr id="32" name="Shape 22"/>
          <p:cNvSpPr/>
          <p:nvPr/>
        </p:nvSpPr>
        <p:spPr>
          <a:xfrm>
            <a:off x="6665976" y="3977640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3" name="Image 8" descr="/home/claude/deck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8148" y="4069812"/>
            <a:ext cx="199705" cy="19970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223760" y="396849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35" name="Text 24"/>
          <p:cNvSpPr/>
          <p:nvPr/>
        </p:nvSpPr>
        <p:spPr>
          <a:xfrm>
            <a:off x="54864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1307592" y="5477256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7" name="Image 9" descr="/home/claude/deck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600" y="5635264"/>
            <a:ext cx="342351" cy="342351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40080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2020824" y="5751576"/>
            <a:ext cx="140817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40" name="Shape 28"/>
          <p:cNvSpPr/>
          <p:nvPr/>
        </p:nvSpPr>
        <p:spPr>
          <a:xfrm>
            <a:off x="3483864" y="5477256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1" name="Image 10" descr="/home/claude/deck/icons/broom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1872" y="5635264"/>
            <a:ext cx="342351" cy="342351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2816352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4197096" y="5751576"/>
            <a:ext cx="140817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44" name="Shape 31"/>
          <p:cNvSpPr/>
          <p:nvPr/>
        </p:nvSpPr>
        <p:spPr>
          <a:xfrm>
            <a:off x="5660136" y="5477256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5" name="Image 11" descr="/home/claude/deck/icons/lin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8144" y="5635264"/>
            <a:ext cx="342351" cy="342351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4992624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47" name="Shape 33"/>
          <p:cNvSpPr/>
          <p:nvPr/>
        </p:nvSpPr>
        <p:spPr>
          <a:xfrm>
            <a:off x="6373368" y="5751576"/>
            <a:ext cx="140817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48" name="Shape 34"/>
          <p:cNvSpPr/>
          <p:nvPr/>
        </p:nvSpPr>
        <p:spPr>
          <a:xfrm>
            <a:off x="7836408" y="5477256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9" name="Image 12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416" y="5635264"/>
            <a:ext cx="342351" cy="342351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7168896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51" name="Shape 36"/>
          <p:cNvSpPr/>
          <p:nvPr/>
        </p:nvSpPr>
        <p:spPr>
          <a:xfrm>
            <a:off x="8549640" y="5751576"/>
            <a:ext cx="140817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52" name="Shape 37"/>
          <p:cNvSpPr/>
          <p:nvPr/>
        </p:nvSpPr>
        <p:spPr>
          <a:xfrm>
            <a:off x="10012680" y="5477256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3" name="Image 13" descr="/home/claude/deck/icons/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688" y="5635264"/>
            <a:ext cx="342351" cy="342351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9345168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55" name="Text 3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56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Collection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2331720"/>
          </a:xfrm>
          <a:prstGeom prst="roundRect">
            <a:avLst>
              <a:gd name="adj" fmla="val 3922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9164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" name="Image 0" descr="/home/claude/deck/icons/hospi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4" y="18233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276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Healthcare</a:t>
            </a:r>
            <a:endParaRPr lang="en-US" sz="15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091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92040" y="1719072"/>
            <a:ext cx="274320" cy="2743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1" name="Image 1" descr="/home/claude/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1784909"/>
            <a:ext cx="142646" cy="1426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hospital simulation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92040" y="2157984"/>
            <a:ext cx="274320" cy="2743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4" name="Image 2" descr="/home/claude/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2223821"/>
            <a:ext cx="142646" cy="14264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85232" y="21579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 synthetic data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92040" y="2596896"/>
            <a:ext cx="274320" cy="274320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7" name="Image 3" descr="/home/claude/deck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2662733"/>
            <a:ext cx="142646" cy="14264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85232" y="25968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analytics &amp; dashboard development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091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709160" y="34930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709160" y="34930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733288" y="3493008"/>
            <a:ext cx="1046074" cy="310896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33288" y="3493008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ID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7378" y="3493008"/>
            <a:ext cx="821131" cy="310896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907378" y="3493008"/>
            <a:ext cx="8211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856525" y="34930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856525" y="34930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709160" y="3877056"/>
            <a:ext cx="596189" cy="310896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709160" y="3877056"/>
            <a:ext cx="5961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433365" y="3877056"/>
            <a:ext cx="446227" cy="310896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33365" y="3877056"/>
            <a:ext cx="4462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007608" y="3877056"/>
            <a:ext cx="1196035" cy="310896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007608" y="3877056"/>
            <a:ext cx="1196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Cost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331659" y="3877056"/>
            <a:ext cx="821131" cy="310896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331659" y="3877056"/>
            <a:ext cx="8211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709160" y="4261104"/>
            <a:ext cx="1196035" cy="310896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709160" y="4261104"/>
            <a:ext cx="1196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91897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9189720" y="1719072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400032" y="1856232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1" name="Image 4" descr="/home/claude/deck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2204" y="1948404"/>
            <a:ext cx="199705" cy="199705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875520" y="17190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50" dirty="0"/>
          </a:p>
        </p:txBody>
      </p:sp>
      <p:sp>
        <p:nvSpPr>
          <p:cNvPr id="43" name="Shape 36"/>
          <p:cNvSpPr/>
          <p:nvPr/>
        </p:nvSpPr>
        <p:spPr>
          <a:xfrm>
            <a:off x="9189720" y="2496312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9400032" y="2633472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5" name="Image 5" descr="/home/claude/deck/icons/procedure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2204" y="2725644"/>
            <a:ext cx="199705" cy="19970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875520" y="2496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250" dirty="0"/>
          </a:p>
        </p:txBody>
      </p:sp>
      <p:sp>
        <p:nvSpPr>
          <p:cNvPr id="47" name="Shape 39"/>
          <p:cNvSpPr/>
          <p:nvPr/>
        </p:nvSpPr>
        <p:spPr>
          <a:xfrm>
            <a:off x="9189720" y="3273552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9400032" y="3410712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9" name="Image 6" descr="/home/claude/deck/icons/stethoscop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2204" y="3502884"/>
            <a:ext cx="199705" cy="19970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9875520" y="3273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50" dirty="0"/>
          </a:p>
        </p:txBody>
      </p:sp>
      <p:sp>
        <p:nvSpPr>
          <p:cNvPr id="51" name="Shape 42"/>
          <p:cNvSpPr/>
          <p:nvPr/>
        </p:nvSpPr>
        <p:spPr>
          <a:xfrm>
            <a:off x="9189720" y="4050792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9400032" y="4187952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3" name="Image 7" descr="/home/claude/deck/icons/idbadg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204" y="4280124"/>
            <a:ext cx="199705" cy="199705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9875520" y="4050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50" dirty="0"/>
          </a:p>
        </p:txBody>
      </p:sp>
      <p:sp>
        <p:nvSpPr>
          <p:cNvPr id="55" name="Shape 45"/>
          <p:cNvSpPr/>
          <p:nvPr/>
        </p:nvSpPr>
        <p:spPr>
          <a:xfrm>
            <a:off x="9189720" y="4828032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9400032" y="4965192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7" name="Image 8" descr="/home/claude/deck/icons/be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2204" y="5057364"/>
            <a:ext cx="199705" cy="199705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9875520" y="48280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1250" dirty="0"/>
          </a:p>
        </p:txBody>
      </p:sp>
      <p:sp>
        <p:nvSpPr>
          <p:cNvPr id="59" name="Shape 48"/>
          <p:cNvSpPr/>
          <p:nvPr/>
        </p:nvSpPr>
        <p:spPr>
          <a:xfrm>
            <a:off x="9189720" y="5605272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9400032" y="5742432"/>
            <a:ext cx="384048" cy="38404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1" name="Image 9" descr="/home/claude/deck/icons/fileinvoic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2204" y="5834604"/>
            <a:ext cx="199705" cy="199705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9875520" y="5605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50" dirty="0"/>
          </a:p>
        </p:txBody>
      </p:sp>
      <p:sp>
        <p:nvSpPr>
          <p:cNvPr id="63" name="Shape 51"/>
          <p:cNvSpPr/>
          <p:nvPr/>
        </p:nvSpPr>
        <p:spPr>
          <a:xfrm>
            <a:off x="548640" y="502920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64" name="Text 52"/>
          <p:cNvSpPr/>
          <p:nvPr/>
        </p:nvSpPr>
        <p:spPr>
          <a:xfrm>
            <a:off x="822960" y="5138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RELATIONSHIP</a:t>
            </a:r>
            <a:endParaRPr lang="en-US" sz="1100" dirty="0"/>
          </a:p>
        </p:txBody>
      </p:sp>
      <p:sp>
        <p:nvSpPr>
          <p:cNvPr id="65" name="Shape 53"/>
          <p:cNvSpPr/>
          <p:nvPr/>
        </p:nvSpPr>
        <p:spPr>
          <a:xfrm>
            <a:off x="822960" y="5486400"/>
            <a:ext cx="18013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6" name="Text 54"/>
          <p:cNvSpPr/>
          <p:nvPr/>
        </p:nvSpPr>
        <p:spPr>
          <a:xfrm>
            <a:off x="822960" y="54864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67" name="Shape 55"/>
          <p:cNvSpPr/>
          <p:nvPr/>
        </p:nvSpPr>
        <p:spPr>
          <a:xfrm>
            <a:off x="2642616" y="5678424"/>
            <a:ext cx="274320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68" name="Shape 56"/>
          <p:cNvSpPr/>
          <p:nvPr/>
        </p:nvSpPr>
        <p:spPr>
          <a:xfrm>
            <a:off x="2944368" y="5486400"/>
            <a:ext cx="18013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9" name="Text 57"/>
          <p:cNvSpPr/>
          <p:nvPr/>
        </p:nvSpPr>
        <p:spPr>
          <a:xfrm>
            <a:off x="2944368" y="54864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100" dirty="0"/>
          </a:p>
        </p:txBody>
      </p:sp>
      <p:sp>
        <p:nvSpPr>
          <p:cNvPr id="70" name="Shape 58"/>
          <p:cNvSpPr/>
          <p:nvPr/>
        </p:nvSpPr>
        <p:spPr>
          <a:xfrm>
            <a:off x="4764024" y="5678424"/>
            <a:ext cx="274320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1" name="Shape 59"/>
          <p:cNvSpPr/>
          <p:nvPr/>
        </p:nvSpPr>
        <p:spPr>
          <a:xfrm>
            <a:off x="5065776" y="5486400"/>
            <a:ext cx="18013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2" name="Text 60"/>
          <p:cNvSpPr/>
          <p:nvPr/>
        </p:nvSpPr>
        <p:spPr>
          <a:xfrm>
            <a:off x="5065776" y="54864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Staff</a:t>
            </a:r>
            <a:endParaRPr lang="en-US" sz="1100" dirty="0"/>
          </a:p>
        </p:txBody>
      </p:sp>
      <p:sp>
        <p:nvSpPr>
          <p:cNvPr id="73" name="Shape 61"/>
          <p:cNvSpPr/>
          <p:nvPr/>
        </p:nvSpPr>
        <p:spPr>
          <a:xfrm>
            <a:off x="6885432" y="5678424"/>
            <a:ext cx="274320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4" name="Shape 62"/>
          <p:cNvSpPr/>
          <p:nvPr/>
        </p:nvSpPr>
        <p:spPr>
          <a:xfrm>
            <a:off x="7187184" y="5486400"/>
            <a:ext cx="18013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5" name="Text 63"/>
          <p:cNvSpPr/>
          <p:nvPr/>
        </p:nvSpPr>
        <p:spPr>
          <a:xfrm>
            <a:off x="7187184" y="54864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/ Bed</a:t>
            </a:r>
            <a:endParaRPr lang="en-US" sz="1100" dirty="0"/>
          </a:p>
        </p:txBody>
      </p:sp>
      <p:sp>
        <p:nvSpPr>
          <p:cNvPr id="76" name="Shape 64"/>
          <p:cNvSpPr/>
          <p:nvPr/>
        </p:nvSpPr>
        <p:spPr>
          <a:xfrm>
            <a:off x="9006840" y="5678424"/>
            <a:ext cx="274320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7" name="Shape 65"/>
          <p:cNvSpPr/>
          <p:nvPr/>
        </p:nvSpPr>
        <p:spPr>
          <a:xfrm>
            <a:off x="9308592" y="5486400"/>
            <a:ext cx="18013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8" name="Text 66"/>
          <p:cNvSpPr/>
          <p:nvPr/>
        </p:nvSpPr>
        <p:spPr>
          <a:xfrm>
            <a:off x="9308592" y="548640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79" name="Text 6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80" name="Text 6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53312" y="113385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" name="Image 0" descr="/home/claude/deck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375" y="1269919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556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1984248" y="1362456"/>
            <a:ext cx="1481328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" name="Shape 4"/>
          <p:cNvSpPr/>
          <p:nvPr/>
        </p:nvSpPr>
        <p:spPr>
          <a:xfrm>
            <a:off x="3529584" y="113385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8" name="Image 1" descr="/home/claude/deck/icon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647" y="1269919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16352" y="17556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160520" y="1362456"/>
            <a:ext cx="1481328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1" name="Shape 7"/>
          <p:cNvSpPr/>
          <p:nvPr/>
        </p:nvSpPr>
        <p:spPr>
          <a:xfrm>
            <a:off x="5705856" y="113385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2" name="Image 2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919" y="1269919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92624" y="17556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336792" y="1362456"/>
            <a:ext cx="1481328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5" name="Shape 10"/>
          <p:cNvSpPr/>
          <p:nvPr/>
        </p:nvSpPr>
        <p:spPr>
          <a:xfrm>
            <a:off x="7882128" y="113385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3" descr="/home/claude/deck/icons/lin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8191" y="1269919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68896" y="17556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513064" y="1362456"/>
            <a:ext cx="1481328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9" name="Shape 13"/>
          <p:cNvSpPr/>
          <p:nvPr/>
        </p:nvSpPr>
        <p:spPr>
          <a:xfrm>
            <a:off x="10058400" y="113385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0" name="Image 4" descr="/home/claude/deck/icons/checkdoub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463" y="1269919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345168" y="17556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48640" y="2240280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31520" y="2404872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4" name="Image 5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250143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61872" y="2331720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731520" y="2770632"/>
            <a:ext cx="31638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records generated with Faker using Indian demographic details</a:t>
            </a:r>
            <a:endParaRPr lang="en-US" sz="970" dirty="0"/>
          </a:p>
        </p:txBody>
      </p:sp>
      <p:sp>
        <p:nvSpPr>
          <p:cNvPr id="27" name="Shape 19"/>
          <p:cNvSpPr/>
          <p:nvPr/>
        </p:nvSpPr>
        <p:spPr>
          <a:xfrm>
            <a:off x="4251960" y="2240280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434840" y="2404872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9" name="Image 6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401" y="2501433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65192" y="2331720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Standardization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4434840" y="2770632"/>
            <a:ext cx="31638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Gender, Blood Group, Admission &amp; Payment Status</a:t>
            </a:r>
            <a:endParaRPr lang="en-US" sz="970" dirty="0"/>
          </a:p>
        </p:txBody>
      </p:sp>
      <p:sp>
        <p:nvSpPr>
          <p:cNvPr id="32" name="Shape 23"/>
          <p:cNvSpPr/>
          <p:nvPr/>
        </p:nvSpPr>
        <p:spPr>
          <a:xfrm>
            <a:off x="7955280" y="2240280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138160" y="2404872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4" name="Image 7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721" y="2501433"/>
            <a:ext cx="209215" cy="20921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668512" y="2331720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8138160" y="2770632"/>
            <a:ext cx="31638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IDs across Patients, Admissions, Doctors, Staff, Beds &amp; Bills</a:t>
            </a:r>
            <a:endParaRPr lang="en-US" sz="970" dirty="0"/>
          </a:p>
        </p:txBody>
      </p:sp>
      <p:sp>
        <p:nvSpPr>
          <p:cNvPr id="37" name="Shape 27"/>
          <p:cNvSpPr/>
          <p:nvPr/>
        </p:nvSpPr>
        <p:spPr>
          <a:xfrm>
            <a:off x="548640" y="3438144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731520" y="3602736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9" name="Image 8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699297"/>
            <a:ext cx="209215" cy="209215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261872" y="3529584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Mapping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731520" y="3968496"/>
            <a:ext cx="31638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→ Department → Doctor → Staff → Ward</a:t>
            </a:r>
            <a:endParaRPr lang="en-US" sz="970" dirty="0"/>
          </a:p>
        </p:txBody>
      </p:sp>
      <p:sp>
        <p:nvSpPr>
          <p:cNvPr id="42" name="Shape 31"/>
          <p:cNvSpPr/>
          <p:nvPr/>
        </p:nvSpPr>
        <p:spPr>
          <a:xfrm>
            <a:off x="4251960" y="3438144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4434840" y="3602736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4" name="Image 9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401" y="3699297"/>
            <a:ext cx="209215" cy="209215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965192" y="3529584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4434840" y="3968496"/>
            <a:ext cx="31638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treatment costs, insurance, billing &amp; payment values</a:t>
            </a:r>
            <a:endParaRPr lang="en-US" sz="970" dirty="0"/>
          </a:p>
        </p:txBody>
      </p:sp>
      <p:sp>
        <p:nvSpPr>
          <p:cNvPr id="47" name="Shape 35"/>
          <p:cNvSpPr/>
          <p:nvPr/>
        </p:nvSpPr>
        <p:spPr>
          <a:xfrm>
            <a:off x="7955280" y="3438144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8138160" y="3602736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9" name="Image 10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721" y="3699297"/>
            <a:ext cx="209215" cy="209215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8668512" y="3529584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200" dirty="0"/>
          </a:p>
        </p:txBody>
      </p:sp>
      <p:sp>
        <p:nvSpPr>
          <p:cNvPr id="51" name="Text 38"/>
          <p:cNvSpPr/>
          <p:nvPr/>
        </p:nvSpPr>
        <p:spPr>
          <a:xfrm>
            <a:off x="8138160" y="3968496"/>
            <a:ext cx="31638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datasets using patient_id &amp; Admission_Id</a:t>
            </a:r>
            <a:endParaRPr lang="en-US" sz="970" dirty="0"/>
          </a:p>
        </p:txBody>
      </p:sp>
      <p:sp>
        <p:nvSpPr>
          <p:cNvPr id="52" name="Shape 39"/>
          <p:cNvSpPr/>
          <p:nvPr/>
        </p:nvSpPr>
        <p:spPr>
          <a:xfrm>
            <a:off x="548640" y="4636008"/>
            <a:ext cx="3529584" cy="1051560"/>
          </a:xfrm>
          <a:prstGeom prst="roundRect">
            <a:avLst>
              <a:gd name="adj" fmla="val 69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3" name="Shape 40"/>
          <p:cNvSpPr/>
          <p:nvPr/>
        </p:nvSpPr>
        <p:spPr>
          <a:xfrm>
            <a:off x="731520" y="4800600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4" name="Image 11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4897161"/>
            <a:ext cx="209215" cy="209215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1261872" y="4727448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56" name="Text 42"/>
          <p:cNvSpPr/>
          <p:nvPr/>
        </p:nvSpPr>
        <p:spPr>
          <a:xfrm>
            <a:off x="731520" y="5166360"/>
            <a:ext cx="316382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· no duplicate IDs · consistent relationships</a:t>
            </a:r>
            <a:endParaRPr lang="en-US" sz="970" dirty="0"/>
          </a:p>
        </p:txBody>
      </p:sp>
      <p:sp>
        <p:nvSpPr>
          <p:cNvPr id="57" name="Text 43"/>
          <p:cNvSpPr/>
          <p:nvPr/>
        </p:nvSpPr>
        <p:spPr>
          <a:xfrm>
            <a:off x="548640" y="5989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50" dirty="0"/>
          </a:p>
        </p:txBody>
      </p:sp>
      <p:sp>
        <p:nvSpPr>
          <p:cNvPr id="58" name="Shape 44"/>
          <p:cNvSpPr/>
          <p:nvPr/>
        </p:nvSpPr>
        <p:spPr>
          <a:xfrm>
            <a:off x="2148840" y="6080760"/>
            <a:ext cx="365760" cy="3657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9" name="Image 12" descr="/home/claude/deck/icons/pytho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6622" y="6168542"/>
            <a:ext cx="190195" cy="190195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2587752" y="6080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61" name="Shape 46"/>
          <p:cNvSpPr/>
          <p:nvPr/>
        </p:nvSpPr>
        <p:spPr>
          <a:xfrm>
            <a:off x="4480560" y="6080760"/>
            <a:ext cx="365760" cy="3657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2" name="Image 13" descr="/home/claude/deck/icons/tabl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342" y="6168542"/>
            <a:ext cx="190195" cy="190195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4919472" y="6080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64" name="Shape 48"/>
          <p:cNvSpPr/>
          <p:nvPr/>
        </p:nvSpPr>
        <p:spPr>
          <a:xfrm>
            <a:off x="6812280" y="6080760"/>
            <a:ext cx="365760" cy="3657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5" name="Image 14" descr="/home/claude/deck/icons/usersecre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0062" y="6168542"/>
            <a:ext cx="190195" cy="190195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7251192" y="6080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</a:t>
            </a:r>
            <a:endParaRPr lang="en-US" sz="1150" dirty="0"/>
          </a:p>
        </p:txBody>
      </p:sp>
      <p:sp>
        <p:nvSpPr>
          <p:cNvPr id="67" name="Shape 50"/>
          <p:cNvSpPr/>
          <p:nvPr/>
        </p:nvSpPr>
        <p:spPr>
          <a:xfrm>
            <a:off x="9144000" y="6080760"/>
            <a:ext cx="365760" cy="36576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8" name="Image 15" descr="/home/claude/deck/icons/random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1782" y="6168542"/>
            <a:ext cx="190195" cy="190195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9582912" y="6080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Module</a:t>
            </a:r>
            <a:endParaRPr lang="en-US" sz="1150" dirty="0"/>
          </a:p>
        </p:txBody>
      </p:sp>
      <p:sp>
        <p:nvSpPr>
          <p:cNvPr id="70" name="Text 5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71" name="Text 5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276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LEARNED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4984" y="2057400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deck/icons/pyth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323" y="216273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2057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Processing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014984" y="2660904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9" name="Image 1" descr="/home/claude/deck/icons/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23" y="2766243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7632" y="26609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 Manipulation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014984" y="3264408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2" name="Image 2" descr="/home/claude/deck/icons/usersecr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323" y="3369747"/>
            <a:ext cx="228234" cy="2282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27632" y="326440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1014984" y="3867912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5" name="Image 3" descr="/home/claude/deck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323" y="3973251"/>
            <a:ext cx="228234" cy="2282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27632" y="386791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1014984" y="4471416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8" name="Image 4" descr="/home/claude/deck/icons/lin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323" y="4576755"/>
            <a:ext cx="228234" cy="22823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27632" y="447141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1014984" y="5074920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1" name="Image 5" descr="/home/claude/deck/icons/github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323" y="5180259"/>
            <a:ext cx="228234" cy="22823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27632" y="50749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Collaboration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</p:sp>
      <p:sp>
        <p:nvSpPr>
          <p:cNvPr id="24" name="Text 16"/>
          <p:cNvSpPr/>
          <p:nvPr/>
        </p:nvSpPr>
        <p:spPr>
          <a:xfrm>
            <a:off x="6537960" y="162763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HELPS THE NEXT MILESTONE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693408" y="2148840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6" name="Image 6" descr="/home/claude/deck/icons/dashboar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6303" y="2271735"/>
            <a:ext cx="266273" cy="26627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06640" y="21488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Creation</a:t>
            </a:r>
            <a:endParaRPr lang="en-US" sz="1450" dirty="0"/>
          </a:p>
        </p:txBody>
      </p:sp>
      <p:sp>
        <p:nvSpPr>
          <p:cNvPr id="28" name="Shape 19"/>
          <p:cNvSpPr/>
          <p:nvPr/>
        </p:nvSpPr>
        <p:spPr>
          <a:xfrm>
            <a:off x="6693408" y="2926080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9" name="Image 7" descr="/home/claude/deck/icons/chartba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6303" y="3048975"/>
            <a:ext cx="266273" cy="26627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406640" y="29260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</a:t>
            </a:r>
            <a:endParaRPr lang="en-US" sz="1450" dirty="0"/>
          </a:p>
        </p:txBody>
      </p:sp>
      <p:sp>
        <p:nvSpPr>
          <p:cNvPr id="31" name="Shape 21"/>
          <p:cNvSpPr/>
          <p:nvPr/>
        </p:nvSpPr>
        <p:spPr>
          <a:xfrm>
            <a:off x="6693408" y="3703320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2" name="Image 8" descr="/home/claude/deck/icons/rout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6303" y="3826215"/>
            <a:ext cx="266273" cy="266273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406640" y="37033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50" dirty="0"/>
          </a:p>
        </p:txBody>
      </p:sp>
      <p:sp>
        <p:nvSpPr>
          <p:cNvPr id="34" name="Shape 23"/>
          <p:cNvSpPr/>
          <p:nvPr/>
        </p:nvSpPr>
        <p:spPr>
          <a:xfrm>
            <a:off x="6693408" y="4480560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5" name="Image 9" descr="/home/claude/deck/icons/rocket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6303" y="4603455"/>
            <a:ext cx="266273" cy="266273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406640" y="448056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Analytics</a:t>
            </a:r>
            <a:endParaRPr lang="en-US" sz="1450" dirty="0"/>
          </a:p>
        </p:txBody>
      </p:sp>
      <p:sp>
        <p:nvSpPr>
          <p:cNvPr id="37" name="Shape 25"/>
          <p:cNvSpPr/>
          <p:nvPr/>
        </p:nvSpPr>
        <p:spPr>
          <a:xfrm>
            <a:off x="5806440" y="3566160"/>
            <a:ext cx="502920" cy="25603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0936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DF1EF"/>
          </a:solidFill>
          <a:ln w="12700">
            <a:solidFill>
              <a:srgbClr val="F1C9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00784"/>
            <a:ext cx="457200" cy="457200"/>
          </a:xfrm>
          <a:prstGeom prst="ellipse">
            <a:avLst/>
          </a:prstGeom>
          <a:solidFill>
            <a:srgbClr val="D9534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" name="Image 0" descr="/home/claude/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105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5179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realistic healthcare relationships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444752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700784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1" name="Image 1" descr="/home/claude/dec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181051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5179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business rule mapping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715000" y="1856232"/>
            <a:ext cx="548640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2578608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DF1EF"/>
          </a:solidFill>
          <a:ln w="12700">
            <a:solidFill>
              <a:srgbClr val="F1C9C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D9534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2" descr="/home/claude/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9443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inconsistent records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09360" y="2578608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75120" y="283464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0" name="Image 3" descr="/home/claude/dec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94436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unique IDs and validation checks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715000" y="2990088"/>
            <a:ext cx="548640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3" name="Shape 17"/>
          <p:cNvSpPr/>
          <p:nvPr/>
        </p:nvSpPr>
        <p:spPr>
          <a:xfrm>
            <a:off x="548640" y="3712464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DF1EF"/>
          </a:solidFill>
          <a:ln w="12700">
            <a:solidFill>
              <a:srgbClr val="F1C9C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4400" y="3968496"/>
            <a:ext cx="457200" cy="457200"/>
          </a:xfrm>
          <a:prstGeom prst="ellipse">
            <a:avLst/>
          </a:prstGeom>
          <a:solidFill>
            <a:srgbClr val="D9534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5" name="Image 4" descr="/home/claude/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078224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378561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multiple datasets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309360" y="3712464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675120" y="3968496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9" name="Image 5" descr="/home/claude/dec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078224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69480" y="378561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common keys and Pandas merge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715000" y="4123944"/>
            <a:ext cx="548640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32" name="Shape 24"/>
          <p:cNvSpPr/>
          <p:nvPr/>
        </p:nvSpPr>
        <p:spPr>
          <a:xfrm>
            <a:off x="548640" y="4846320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DF1EF"/>
          </a:solidFill>
          <a:ln w="12700">
            <a:solidFill>
              <a:srgbClr val="F1C9C2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914400" y="5102352"/>
            <a:ext cx="457200" cy="457200"/>
          </a:xfrm>
          <a:prstGeom prst="ellipse">
            <a:avLst/>
          </a:prstGeom>
          <a:solidFill>
            <a:srgbClr val="D9534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4" name="Image 6" descr="/home/claude/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5212080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508760" y="49194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realistic healthcare data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309360" y="4846320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675120" y="5102352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8" name="Image 7" descr="/home/claude/dec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5212080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269480" y="49194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Faker with logical randomization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5715000" y="5257800"/>
            <a:ext cx="548640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41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Collaboration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DISTRIBUTION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59105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deck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93" y="1687617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630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Creation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1832" y="236829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0" name="Image 1" descr="/home/claude/deck/icon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393" y="2464857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2402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41832" y="314553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4" name="Image 2" descr="/home/claude/deck/icons/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93" y="3242097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0175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41832" y="392277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8" name="Image 3" descr="/home/claude/deck/icon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93" y="4019337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7947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57200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41832" y="470001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2" name="Image 4" descr="/home/claude/deck/icons/github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393" y="4796577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5720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Management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4864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PRACTICES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5806440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48640" y="5806440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415491" y="5806440"/>
            <a:ext cx="218724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415491" y="5806440"/>
            <a:ext cx="2187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Branch-based Development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730752" y="5806440"/>
            <a:ext cx="130210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730752" y="5806440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48640" y="6190488"/>
            <a:ext cx="170444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48640" y="6190488"/>
            <a:ext cx="1704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217920" y="1051560"/>
            <a:ext cx="5394960" cy="5349240"/>
          </a:xfrm>
          <a:prstGeom prst="roundRect">
            <a:avLst>
              <a:gd name="adj" fmla="val 1709"/>
            </a:avLst>
          </a:prstGeom>
          <a:solidFill>
            <a:srgbClr val="21295C"/>
          </a:solidFill>
          <a:ln/>
        </p:spPr>
      </p:sp>
      <p:sp>
        <p:nvSpPr>
          <p:cNvPr id="34" name="Text 27"/>
          <p:cNvSpPr/>
          <p:nvPr/>
        </p:nvSpPr>
        <p:spPr>
          <a:xfrm>
            <a:off x="6537960" y="12344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WORKFLOW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7077456" y="1700784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6" name="Image 5" descr="/home/claude/deck/icons/codebranc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3519" y="1836847"/>
            <a:ext cx="294803" cy="29480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818120" y="169164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7360920" y="2313432"/>
            <a:ext cx="0" cy="237744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39" name="Shape 31"/>
          <p:cNvSpPr/>
          <p:nvPr/>
        </p:nvSpPr>
        <p:spPr>
          <a:xfrm>
            <a:off x="7077456" y="25603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0" name="Image 6" descr="/home/claude/deck/icons/laptopcod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3519" y="2696383"/>
            <a:ext cx="294803" cy="29480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818120" y="255117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7360920" y="3172968"/>
            <a:ext cx="0" cy="237744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43" name="Shape 34"/>
          <p:cNvSpPr/>
          <p:nvPr/>
        </p:nvSpPr>
        <p:spPr>
          <a:xfrm>
            <a:off x="7077456" y="341985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4" name="Image 7" descr="/home/claude/deck/icons/rout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3519" y="3555919"/>
            <a:ext cx="294803" cy="294803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818120" y="341071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7360920" y="4032504"/>
            <a:ext cx="0" cy="237744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47" name="Shape 37"/>
          <p:cNvSpPr/>
          <p:nvPr/>
        </p:nvSpPr>
        <p:spPr>
          <a:xfrm>
            <a:off x="7077456" y="4279392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8" name="Image 8" descr="/home/claude/deck/icons/ey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3519" y="4415455"/>
            <a:ext cx="294803" cy="294803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818120" y="4270248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50" name="Shape 39"/>
          <p:cNvSpPr/>
          <p:nvPr/>
        </p:nvSpPr>
        <p:spPr>
          <a:xfrm>
            <a:off x="7360920" y="4892040"/>
            <a:ext cx="0" cy="237744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51" name="Shape 40"/>
          <p:cNvSpPr/>
          <p:nvPr/>
        </p:nvSpPr>
        <p:spPr>
          <a:xfrm>
            <a:off x="7077456" y="5138928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2" name="Image 9" descr="/home/claude/deck/icons/check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3519" y="5274991"/>
            <a:ext cx="294803" cy="294803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818120" y="5129784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54" name="Text 4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COMPLETED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1536192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" name="Image 0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1615196"/>
            <a:ext cx="171176" cy="171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536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" y="2011680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0" name="Image 1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2090684"/>
            <a:ext cx="171176" cy="171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" y="2487168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3" name="Image 2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2566172"/>
            <a:ext cx="171176" cy="171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2487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standardized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49808" y="2962656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3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3041660"/>
            <a:ext cx="171176" cy="1711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07008" y="29626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tables integrated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49808" y="3438144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9" name="Image 4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3517148"/>
            <a:ext cx="171176" cy="1711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07008" y="34381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validation completed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49808" y="3913632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2" name="Image 5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3992636"/>
            <a:ext cx="171176" cy="17117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07008" y="3913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ready for analytics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309360" y="11430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42046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583680" y="13258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858000" y="179222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7" name="Image 6" descr="/home/claude/deck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901952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98080" y="17830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Analysis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858000" y="2414016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0" name="Image 7" descr="/home/claude/deck/icons/chartb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2523744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498080" y="24048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Demand Intelligence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6858000" y="3035808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3" name="Image 8" descr="/home/claude/deck/icons/dash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3145536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498080" y="302666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 Dashboards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6858000" y="3657600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6" name="Image 9" descr="/home/claude/deck/icons/rocke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3767328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498080" y="364845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</a:t>
            </a:r>
            <a:endParaRPr lang="en-US" sz="1300" dirty="0"/>
          </a:p>
        </p:txBody>
      </p:sp>
      <p:sp>
        <p:nvSpPr>
          <p:cNvPr id="38" name="Shape 26"/>
          <p:cNvSpPr/>
          <p:nvPr/>
        </p:nvSpPr>
        <p:spPr>
          <a:xfrm>
            <a:off x="548640" y="461772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142046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868680" y="55321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40" name="Shape 28"/>
          <p:cNvSpPr/>
          <p:nvPr/>
        </p:nvSpPr>
        <p:spPr>
          <a:xfrm>
            <a:off x="1645920" y="5257800"/>
            <a:ext cx="457200" cy="59436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41" name="Shape 29"/>
          <p:cNvSpPr/>
          <p:nvPr/>
        </p:nvSpPr>
        <p:spPr>
          <a:xfrm>
            <a:off x="2423160" y="53949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42" name="Shape 30"/>
          <p:cNvSpPr/>
          <p:nvPr/>
        </p:nvSpPr>
        <p:spPr>
          <a:xfrm>
            <a:off x="3200400" y="5074920"/>
            <a:ext cx="457200" cy="77724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43" name="Shape 31"/>
          <p:cNvSpPr/>
          <p:nvPr/>
        </p:nvSpPr>
        <p:spPr>
          <a:xfrm>
            <a:off x="3977640" y="5303520"/>
            <a:ext cx="45720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44" name="Shape 32"/>
          <p:cNvSpPr/>
          <p:nvPr/>
        </p:nvSpPr>
        <p:spPr>
          <a:xfrm>
            <a:off x="4754880" y="4983480"/>
            <a:ext cx="457200" cy="86868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45" name="Text 33"/>
          <p:cNvSpPr/>
          <p:nvPr/>
        </p:nvSpPr>
        <p:spPr>
          <a:xfrm>
            <a:off x="548640" y="58704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Ready for Analytics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6309360" y="489204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</p:sp>
      <p:sp>
        <p:nvSpPr>
          <p:cNvPr id="47" name="Text 35"/>
          <p:cNvSpPr/>
          <p:nvPr/>
        </p:nvSpPr>
        <p:spPr>
          <a:xfrm>
            <a:off x="6583680" y="50292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established a clean, reliable and analytics-ready healthcare dataset — the foundation for the Medical Operations Dashboard.</a:t>
            </a:r>
            <a:endParaRPr lang="en-US" sz="1250" dirty="0"/>
          </a:p>
        </p:txBody>
      </p:sp>
      <p:sp>
        <p:nvSpPr>
          <p:cNvPr id="48" name="Text 3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530</Words>
  <Application>Microsoft Office PowerPoint</Application>
  <PresentationFormat>Widescreen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Devashri Pavle</cp:lastModifiedBy>
  <cp:revision>2</cp:revision>
  <dcterms:created xsi:type="dcterms:W3CDTF">2026-08-01T17:58:12Z</dcterms:created>
  <dcterms:modified xsi:type="dcterms:W3CDTF">2026-08-01T18:06:01Z</dcterms:modified>
</cp:coreProperties>
</file>